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75" r:id="rId3"/>
    <p:sldId id="276" r:id="rId4"/>
    <p:sldId id="258" r:id="rId5"/>
    <p:sldId id="277" r:id="rId6"/>
    <p:sldId id="267" r:id="rId7"/>
    <p:sldId id="268" r:id="rId8"/>
    <p:sldId id="269" r:id="rId9"/>
    <p:sldId id="278" r:id="rId10"/>
    <p:sldId id="289" r:id="rId11"/>
    <p:sldId id="290" r:id="rId12"/>
    <p:sldId id="291" r:id="rId13"/>
    <p:sldId id="292" r:id="rId14"/>
    <p:sldId id="293" r:id="rId15"/>
    <p:sldId id="259" r:id="rId16"/>
    <p:sldId id="266" r:id="rId17"/>
    <p:sldId id="279" r:id="rId18"/>
    <p:sldId id="281" r:id="rId19"/>
    <p:sldId id="260" r:id="rId20"/>
    <p:sldId id="294" r:id="rId21"/>
    <p:sldId id="285" r:id="rId22"/>
    <p:sldId id="270" r:id="rId23"/>
    <p:sldId id="286" r:id="rId24"/>
    <p:sldId id="287" r:id="rId25"/>
    <p:sldId id="272" r:id="rId26"/>
    <p:sldId id="288" r:id="rId27"/>
    <p:sldId id="295" r:id="rId28"/>
    <p:sldId id="282" r:id="rId29"/>
    <p:sldId id="283" r:id="rId30"/>
    <p:sldId id="274" r:id="rId31"/>
    <p:sldId id="308" r:id="rId32"/>
    <p:sldId id="301" r:id="rId33"/>
    <p:sldId id="302" r:id="rId34"/>
    <p:sldId id="303" r:id="rId35"/>
    <p:sldId id="304" r:id="rId36"/>
    <p:sldId id="305" r:id="rId37"/>
    <p:sldId id="306" r:id="rId38"/>
    <p:sldId id="307" r:id="rId39"/>
    <p:sldId id="296" r:id="rId40"/>
    <p:sldId id="297" r:id="rId41"/>
    <p:sldId id="261" r:id="rId42"/>
    <p:sldId id="309" r:id="rId43"/>
    <p:sldId id="310" r:id="rId44"/>
    <p:sldId id="311" r:id="rId45"/>
    <p:sldId id="299" r:id="rId46"/>
    <p:sldId id="264" r:id="rId47"/>
    <p:sldId id="280" r:id="rId48"/>
    <p:sldId id="30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0" autoAdjust="0"/>
    <p:restoredTop sz="94660"/>
  </p:normalViewPr>
  <p:slideViewPr>
    <p:cSldViewPr snapToGrid="0">
      <p:cViewPr varScale="1">
        <p:scale>
          <a:sx n="50" d="100"/>
          <a:sy n="50" d="100"/>
        </p:scale>
        <p:origin x="53" y="48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3089821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1">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1">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1">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1">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1">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1">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1">
              <a:rPr lang="en-US" smtClean="0"/>
              <a:t>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1013460"/>
          </a:xfrm>
        </p:spPr>
        <p:txBody>
          <a:bodyPr>
            <a:normAutofit fontScale="90000"/>
          </a:bodyPr>
          <a:lstStyle/>
          <a:p>
            <a:pPr algn="ctr"/>
            <a:br>
              <a:rPr lang="en-US" b="1" dirty="0"/>
            </a:br>
            <a:br>
              <a:rPr lang="en-US" b="1" dirty="0"/>
            </a:br>
            <a:br>
              <a:rPr lang="en-US" b="1" dirty="0"/>
            </a:br>
            <a:br>
              <a:rPr lang="en-US" b="1" dirty="0"/>
            </a:br>
            <a:br>
              <a:rPr lang="en-US" b="1" dirty="0"/>
            </a:br>
            <a:r>
              <a:rPr lang="en-US" b="1" dirty="0"/>
              <a:t>SCET-MITWPU</a:t>
            </a:r>
            <a:br>
              <a:rPr lang="en-US" b="1" dirty="0"/>
            </a:br>
            <a:r>
              <a:rPr lang="en-US" sz="3110" b="1" dirty="0"/>
              <a:t>College Event Management </a:t>
            </a:r>
            <a:br>
              <a:rPr lang="en-US" sz="3110" b="1" dirty="0"/>
            </a:br>
            <a:r>
              <a:rPr lang="en-US" sz="3110" b="1" dirty="0"/>
              <a:t>Web Development (In-House Project)</a:t>
            </a:r>
            <a:br>
              <a:rPr lang="en-US" sz="3110" b="1" dirty="0"/>
            </a:br>
            <a:endParaRPr lang="en-US" sz="3110" b="1" dirty="0"/>
          </a:p>
        </p:txBody>
      </p:sp>
      <p:sp>
        <p:nvSpPr>
          <p:cNvPr id="5" name="Content Placeholder 4"/>
          <p:cNvSpPr>
            <a:spLocks noGrp="1"/>
          </p:cNvSpPr>
          <p:nvPr>
            <p:ph sz="half" idx="1"/>
          </p:nvPr>
        </p:nvSpPr>
        <p:spPr>
          <a:xfrm>
            <a:off x="838200" y="3664111"/>
            <a:ext cx="5638800" cy="1591380"/>
          </a:xfrm>
        </p:spPr>
        <p:txBody>
          <a:bodyPr>
            <a:normAutofit fontScale="92500"/>
          </a:bodyPr>
          <a:lstStyle/>
          <a:p>
            <a:pPr marL="0" indent="0">
              <a:buNone/>
            </a:pPr>
            <a:r>
              <a:rPr lang="en-US" sz="3500" b="1" dirty="0"/>
              <a:t>Name of </a:t>
            </a:r>
            <a:r>
              <a:rPr lang="en-US" sz="3500" b="1" dirty="0" err="1"/>
              <a:t>BTech</a:t>
            </a:r>
            <a:r>
              <a:rPr lang="en-US" sz="3500" b="1" dirty="0"/>
              <a:t> Capstone Project Guide :</a:t>
            </a:r>
            <a:r>
              <a:rPr lang="en-IN" sz="3500" b="1" dirty="0"/>
              <a:t>Dr Nikhil </a:t>
            </a:r>
            <a:r>
              <a:rPr lang="en-IN" sz="3500" b="1" dirty="0" err="1"/>
              <a:t>Mhala</a:t>
            </a:r>
            <a:r>
              <a:rPr lang="en-IN" sz="3500" b="1" dirty="0"/>
              <a:t> </a:t>
            </a:r>
            <a:endParaRPr lang="en-US" sz="3500" b="1" dirty="0"/>
          </a:p>
          <a:p>
            <a:pPr marL="0" indent="0">
              <a:buNone/>
            </a:pPr>
            <a:r>
              <a:rPr lang="en-US" sz="3500" b="1" dirty="0"/>
              <a:t>Group no – P70</a:t>
            </a:r>
          </a:p>
          <a:p>
            <a:endParaRPr lang="en-US" dirty="0"/>
          </a:p>
          <a:p>
            <a:endParaRPr lang="en-US" dirty="0"/>
          </a:p>
        </p:txBody>
      </p:sp>
      <p:pic>
        <p:nvPicPr>
          <p:cNvPr id="100" name="Content Placeholder 99"/>
          <p:cNvPicPr>
            <a:picLocks noGrp="1"/>
          </p:cNvPicPr>
          <p:nvPr>
            <p:ph sz="half" idx="2"/>
          </p:nvPr>
        </p:nvPicPr>
        <p:blipFill>
          <a:blip r:embed="rId2"/>
          <a:stretch>
            <a:fillRect/>
          </a:stretch>
        </p:blipFill>
        <p:spPr>
          <a:xfrm>
            <a:off x="2417445" y="183878"/>
            <a:ext cx="7536180" cy="1073785"/>
          </a:xfrm>
          <a:prstGeom prst="rect">
            <a:avLst/>
          </a:prstGeom>
          <a:noFill/>
          <a:ln w="9525">
            <a:noFill/>
          </a:ln>
        </p:spPr>
      </p:pic>
      <p:sp>
        <p:nvSpPr>
          <p:cNvPr id="6" name="Date Placeholder 5"/>
          <p:cNvSpPr>
            <a:spLocks noGrp="1"/>
          </p:cNvSpPr>
          <p:nvPr>
            <p:ph type="dt" sz="half" idx="10"/>
          </p:nvPr>
        </p:nvSpPr>
        <p:spPr/>
        <p:txBody>
          <a:bodyPr/>
          <a:lstStyle/>
          <a:p>
            <a:fld id="{63A1C593-65D0-4073-BCC9-577B9352EA97}" type="datetime1">
              <a:rPr lang="en-US" smtClean="0"/>
              <a:t>1/22/2025</a:t>
            </a:fld>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1</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1724090689"/>
              </p:ext>
            </p:extLst>
          </p:nvPr>
        </p:nvGraphicFramePr>
        <p:xfrm>
          <a:off x="6998788" y="3064192"/>
          <a:ext cx="4862287" cy="3139440"/>
        </p:xfrm>
        <a:graphic>
          <a:graphicData uri="http://schemas.openxmlformats.org/drawingml/2006/table">
            <a:tbl>
              <a:tblPr firstRow="1" bandRow="1">
                <a:tableStyleId>{5C22544A-7EE6-4342-B048-85BDC9FD1C3A}</a:tableStyleId>
              </a:tblPr>
              <a:tblGrid>
                <a:gridCol w="978264">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1497874">
                  <a:extLst>
                    <a:ext uri="{9D8B030D-6E8A-4147-A177-3AD203B41FA5}">
                      <a16:colId xmlns:a16="http://schemas.microsoft.com/office/drawing/2014/main" val="20002"/>
                    </a:ext>
                  </a:extLst>
                </a:gridCol>
                <a:gridCol w="1532709">
                  <a:extLst>
                    <a:ext uri="{9D8B030D-6E8A-4147-A177-3AD203B41FA5}">
                      <a16:colId xmlns:a16="http://schemas.microsoft.com/office/drawing/2014/main" val="20003"/>
                    </a:ext>
                  </a:extLst>
                </a:gridCol>
              </a:tblGrid>
              <a:tr h="652236">
                <a:tc>
                  <a:txBody>
                    <a:bodyPr/>
                    <a:lstStyle/>
                    <a:p>
                      <a:pPr algn="ctr"/>
                      <a:endParaRPr lang="en-IN" sz="1600" b="0" i="0" u="none" strike="noStrike" kern="1200" baseline="0" dirty="0">
                        <a:solidFill>
                          <a:schemeClr val="lt1"/>
                        </a:solidFill>
                        <a:latin typeface="+mn-lt"/>
                        <a:ea typeface="+mn-ea"/>
                        <a:cs typeface="+mn-cs"/>
                      </a:endParaRPr>
                    </a:p>
                    <a:p>
                      <a:pPr algn="ctr"/>
                      <a:r>
                        <a:rPr lang="en-IN" sz="1600" b="0" i="0" u="none" strike="noStrike" kern="1200" baseline="0" dirty="0">
                          <a:solidFill>
                            <a:schemeClr val="lt1"/>
                          </a:solidFill>
                          <a:latin typeface="+mn-lt"/>
                          <a:ea typeface="+mn-ea"/>
                          <a:cs typeface="+mn-cs"/>
                        </a:rPr>
                        <a:t> </a:t>
                      </a:r>
                      <a:r>
                        <a:rPr lang="en-IN" sz="1600" b="1" i="0" u="none" strike="noStrike" kern="1200" baseline="0" dirty="0" err="1">
                          <a:solidFill>
                            <a:schemeClr val="lt1"/>
                          </a:solidFill>
                          <a:latin typeface="+mn-lt"/>
                          <a:ea typeface="+mn-ea"/>
                          <a:cs typeface="+mn-cs"/>
                        </a:rPr>
                        <a:t>Sr.No</a:t>
                      </a:r>
                      <a:r>
                        <a:rPr lang="en-IN" sz="1600" b="1" i="0" u="none" strike="noStrike" kern="1200" baseline="0" dirty="0">
                          <a:solidFill>
                            <a:schemeClr val="lt1"/>
                          </a:solidFill>
                          <a:latin typeface="+mn-lt"/>
                          <a:ea typeface="+mn-ea"/>
                          <a:cs typeface="+mn-cs"/>
                        </a:rPr>
                        <a:t> </a:t>
                      </a:r>
                      <a:r>
                        <a:rPr lang="en-IN" sz="1600" b="0" i="0" u="none" strike="noStrike" kern="1200" baseline="0" dirty="0">
                          <a:solidFill>
                            <a:schemeClr val="lt1"/>
                          </a:solidFill>
                          <a:latin typeface="+mn-lt"/>
                          <a:ea typeface="+mn-ea"/>
                          <a:cs typeface="+mn-cs"/>
                        </a:rPr>
                        <a:t>	</a:t>
                      </a:r>
                    </a:p>
                  </a:txBody>
                  <a:tcPr/>
                </a:tc>
                <a:tc>
                  <a:txBody>
                    <a:bodyPr/>
                    <a:lstStyle/>
                    <a:p>
                      <a:endParaRPr lang="en-IN" sz="1600" b="0" i="0" u="none" strike="noStrike" kern="1200" baseline="0" dirty="0">
                        <a:solidFill>
                          <a:schemeClr val="lt1"/>
                        </a:solidFill>
                        <a:latin typeface="+mn-lt"/>
                        <a:ea typeface="+mn-ea"/>
                        <a:cs typeface="+mn-cs"/>
                      </a:endParaRPr>
                    </a:p>
                    <a:p>
                      <a:r>
                        <a:rPr lang="en-IN" sz="1600" b="0" i="0" u="none" strike="noStrike" kern="1200" baseline="0" dirty="0">
                          <a:solidFill>
                            <a:schemeClr val="lt1"/>
                          </a:solidFill>
                          <a:latin typeface="+mn-lt"/>
                          <a:ea typeface="+mn-ea"/>
                          <a:cs typeface="+mn-cs"/>
                        </a:rPr>
                        <a:t> </a:t>
                      </a:r>
                      <a:r>
                        <a:rPr lang="en-IN" sz="1600" b="1" i="0" u="none" strike="noStrike" kern="1200" baseline="0" dirty="0">
                          <a:solidFill>
                            <a:schemeClr val="lt1"/>
                          </a:solidFill>
                          <a:latin typeface="+mn-lt"/>
                          <a:ea typeface="+mn-ea"/>
                          <a:cs typeface="+mn-cs"/>
                        </a:rPr>
                        <a:t>Panel </a:t>
                      </a:r>
                      <a:r>
                        <a:rPr lang="en-IN" sz="1600" b="0" i="0" u="none" strike="noStrike" kern="1200" baseline="0" dirty="0">
                          <a:solidFill>
                            <a:schemeClr val="lt1"/>
                          </a:solidFill>
                          <a:latin typeface="+mn-lt"/>
                          <a:ea typeface="+mn-ea"/>
                          <a:cs typeface="+mn-cs"/>
                        </a:rPr>
                        <a:t>	</a:t>
                      </a:r>
                    </a:p>
                  </a:txBody>
                  <a:tcPr/>
                </a:tc>
                <a:tc>
                  <a:txBody>
                    <a:bodyPr/>
                    <a:lstStyle/>
                    <a:p>
                      <a:endParaRPr lang="en-IN" sz="1600" b="0" i="0" u="none" strike="noStrike" kern="1200" baseline="0" dirty="0">
                        <a:solidFill>
                          <a:schemeClr val="lt1"/>
                        </a:solidFill>
                        <a:latin typeface="+mn-lt"/>
                        <a:ea typeface="+mn-ea"/>
                        <a:cs typeface="+mn-cs"/>
                      </a:endParaRPr>
                    </a:p>
                    <a:p>
                      <a:r>
                        <a:rPr lang="en-IN" sz="1600" b="0" i="0" u="none" strike="noStrike" kern="1200" baseline="0" dirty="0">
                          <a:solidFill>
                            <a:schemeClr val="lt1"/>
                          </a:solidFill>
                          <a:latin typeface="+mn-lt"/>
                          <a:ea typeface="+mn-ea"/>
                          <a:cs typeface="+mn-cs"/>
                        </a:rPr>
                        <a:t> </a:t>
                      </a:r>
                      <a:r>
                        <a:rPr lang="en-IN" sz="1600" b="1" i="0" u="none" strike="noStrike" kern="1200" baseline="0" dirty="0">
                          <a:solidFill>
                            <a:schemeClr val="lt1"/>
                          </a:solidFill>
                          <a:latin typeface="+mn-lt"/>
                          <a:ea typeface="+mn-ea"/>
                          <a:cs typeface="+mn-cs"/>
                        </a:rPr>
                        <a:t>Name </a:t>
                      </a:r>
                      <a:r>
                        <a:rPr lang="en-IN" sz="1600" b="0" i="0" u="none" strike="noStrike" kern="1200" baseline="0" dirty="0">
                          <a:solidFill>
                            <a:schemeClr val="lt1"/>
                          </a:solidFill>
                          <a:latin typeface="+mn-lt"/>
                          <a:ea typeface="+mn-ea"/>
                          <a:cs typeface="+mn-cs"/>
                        </a:rPr>
                        <a:t>	</a:t>
                      </a:r>
                    </a:p>
                    <a:p>
                      <a:r>
                        <a:rPr lang="en-IN" sz="1600" b="0" i="0" u="none" strike="noStrike" kern="1200" baseline="0" dirty="0">
                          <a:solidFill>
                            <a:schemeClr val="lt1"/>
                          </a:solidFill>
                          <a:latin typeface="+mn-lt"/>
                          <a:ea typeface="+mn-ea"/>
                          <a:cs typeface="+mn-cs"/>
                        </a:rPr>
                        <a:t>	</a:t>
                      </a:r>
                    </a:p>
                  </a:txBody>
                  <a:tcPr/>
                </a:tc>
                <a:tc>
                  <a:txBody>
                    <a:bodyPr/>
                    <a:lstStyle/>
                    <a:p>
                      <a:endParaRPr lang="en-IN" sz="1600" b="0" i="0" u="none" strike="noStrike" kern="1200" baseline="0" dirty="0">
                        <a:solidFill>
                          <a:schemeClr val="lt1"/>
                        </a:solidFill>
                        <a:latin typeface="+mn-lt"/>
                        <a:ea typeface="+mn-ea"/>
                        <a:cs typeface="+mn-cs"/>
                      </a:endParaRPr>
                    </a:p>
                    <a:p>
                      <a:r>
                        <a:rPr lang="en-IN" sz="1600" b="0" i="0" u="none" strike="noStrike" kern="1200" baseline="0" dirty="0">
                          <a:solidFill>
                            <a:schemeClr val="lt1"/>
                          </a:solidFill>
                          <a:latin typeface="+mn-lt"/>
                          <a:ea typeface="+mn-ea"/>
                          <a:cs typeface="+mn-cs"/>
                        </a:rPr>
                        <a:t>	PRN</a:t>
                      </a:r>
                    </a:p>
                  </a:txBody>
                  <a:tcPr/>
                </a:tc>
                <a:extLst>
                  <a:ext uri="{0D108BD9-81ED-4DB2-BD59-A6C34878D82A}">
                    <a16:rowId xmlns:a16="http://schemas.microsoft.com/office/drawing/2014/main" val="10000"/>
                  </a:ext>
                </a:extLst>
              </a:tr>
              <a:tr h="409212">
                <a:tc>
                  <a:txBody>
                    <a:bodyPr/>
                    <a:lstStyle/>
                    <a:p>
                      <a:pPr algn="ctr"/>
                      <a:r>
                        <a:rPr lang="en-IN" sz="1600" b="0" i="0" u="none" strike="noStrike" kern="1200" baseline="0" dirty="0">
                          <a:solidFill>
                            <a:schemeClr val="dk1"/>
                          </a:solidFill>
                          <a:latin typeface="+mn-lt"/>
                          <a:ea typeface="+mn-ea"/>
                          <a:cs typeface="+mn-cs"/>
                        </a:rPr>
                        <a:t>1 	</a:t>
                      </a:r>
                    </a:p>
                  </a:txBody>
                  <a:tcPr/>
                </a:tc>
                <a:tc>
                  <a:txBody>
                    <a:bodyPr/>
                    <a:lstStyle/>
                    <a:p>
                      <a:r>
                        <a:rPr lang="en-IN" sz="1600" dirty="0"/>
                        <a:t>A</a:t>
                      </a:r>
                    </a:p>
                  </a:txBody>
                  <a:tcPr/>
                </a:tc>
                <a:tc>
                  <a:txBody>
                    <a:bodyPr/>
                    <a:lstStyle/>
                    <a:p>
                      <a:r>
                        <a:rPr lang="en-IN" sz="1600" b="0" i="0" u="none" strike="noStrike" kern="1200" baseline="0" dirty="0">
                          <a:solidFill>
                            <a:schemeClr val="dk1"/>
                          </a:solidFill>
                          <a:latin typeface="+mn-lt"/>
                          <a:ea typeface="+mn-ea"/>
                          <a:cs typeface="+mn-cs"/>
                        </a:rPr>
                        <a:t>Rhythm </a:t>
                      </a:r>
                      <a:r>
                        <a:rPr lang="en-IN" sz="1600" b="0" i="0" u="none" strike="noStrike" kern="1200" baseline="0" dirty="0" err="1">
                          <a:solidFill>
                            <a:schemeClr val="dk1"/>
                          </a:solidFill>
                          <a:latin typeface="+mn-lt"/>
                          <a:ea typeface="+mn-ea"/>
                          <a:cs typeface="+mn-cs"/>
                        </a:rPr>
                        <a:t>Sethiya</a:t>
                      </a:r>
                      <a:endParaRPr lang="en-IN" sz="1600" b="0" i="0" u="none" strike="noStrike" kern="1200" baseline="0" dirty="0">
                        <a:solidFill>
                          <a:schemeClr val="dk1"/>
                        </a:solidFill>
                        <a:latin typeface="+mn-lt"/>
                        <a:ea typeface="+mn-ea"/>
                        <a:cs typeface="+mn-cs"/>
                      </a:endParaRPr>
                    </a:p>
                  </a:txBody>
                  <a:tcPr/>
                </a:tc>
                <a:tc>
                  <a:txBody>
                    <a:bodyPr/>
                    <a:lstStyle/>
                    <a:p>
                      <a:r>
                        <a:rPr lang="en-IN" sz="1600" dirty="0"/>
                        <a:t>1032212447</a:t>
                      </a:r>
                    </a:p>
                  </a:txBody>
                  <a:tcPr/>
                </a:tc>
                <a:extLst>
                  <a:ext uri="{0D108BD9-81ED-4DB2-BD59-A6C34878D82A}">
                    <a16:rowId xmlns:a16="http://schemas.microsoft.com/office/drawing/2014/main" val="10001"/>
                  </a:ext>
                </a:extLst>
              </a:tr>
              <a:tr h="466809">
                <a:tc>
                  <a:txBody>
                    <a:bodyPr/>
                    <a:lstStyle/>
                    <a:p>
                      <a:pPr algn="ctr"/>
                      <a:r>
                        <a:rPr lang="en-IN" sz="1600" b="0" i="0" u="none" strike="noStrike" kern="1200" baseline="0" dirty="0">
                          <a:solidFill>
                            <a:schemeClr val="dk1"/>
                          </a:solidFill>
                          <a:latin typeface="+mn-lt"/>
                          <a:ea typeface="+mn-ea"/>
                          <a:cs typeface="+mn-cs"/>
                        </a:rPr>
                        <a:t>2 	</a:t>
                      </a:r>
                    </a:p>
                  </a:txBody>
                  <a:tcPr/>
                </a:tc>
                <a:tc>
                  <a:txBody>
                    <a:bodyPr/>
                    <a:lstStyle/>
                    <a:p>
                      <a:r>
                        <a:rPr lang="en-IN" sz="1600" dirty="0"/>
                        <a:t>B</a:t>
                      </a:r>
                    </a:p>
                  </a:txBody>
                  <a:tcPr/>
                </a:tc>
                <a:tc>
                  <a:txBody>
                    <a:bodyPr/>
                    <a:lstStyle/>
                    <a:p>
                      <a:r>
                        <a:rPr lang="en-IN" sz="1600" b="0" i="0" u="none" strike="noStrike" kern="1200" baseline="0" dirty="0" err="1">
                          <a:solidFill>
                            <a:schemeClr val="dk1"/>
                          </a:solidFill>
                          <a:latin typeface="+mn-lt"/>
                          <a:ea typeface="+mn-ea"/>
                          <a:cs typeface="+mn-cs"/>
                        </a:rPr>
                        <a:t>Akarsh</a:t>
                      </a:r>
                      <a:r>
                        <a:rPr lang="en-IN" sz="1600" b="0" i="0" u="none" strike="noStrike" kern="1200" baseline="0" dirty="0">
                          <a:solidFill>
                            <a:schemeClr val="dk1"/>
                          </a:solidFill>
                          <a:latin typeface="+mn-lt"/>
                          <a:ea typeface="+mn-ea"/>
                          <a:cs typeface="+mn-cs"/>
                        </a:rPr>
                        <a:t> Singh 	</a:t>
                      </a:r>
                    </a:p>
                  </a:txBody>
                  <a:tcPr/>
                </a:tc>
                <a:tc>
                  <a:txBody>
                    <a:bodyPr/>
                    <a:lstStyle/>
                    <a:p>
                      <a:r>
                        <a:rPr lang="en-IN" sz="1600" dirty="0"/>
                        <a:t>1032212466</a:t>
                      </a:r>
                    </a:p>
                  </a:txBody>
                  <a:tcPr/>
                </a:tc>
                <a:extLst>
                  <a:ext uri="{0D108BD9-81ED-4DB2-BD59-A6C34878D82A}">
                    <a16:rowId xmlns:a16="http://schemas.microsoft.com/office/drawing/2014/main" val="10002"/>
                  </a:ext>
                </a:extLst>
              </a:tr>
              <a:tr h="466809">
                <a:tc>
                  <a:txBody>
                    <a:bodyPr/>
                    <a:lstStyle/>
                    <a:p>
                      <a:pPr algn="ctr"/>
                      <a:r>
                        <a:rPr lang="en-IN" sz="1600" b="0" i="0" u="none" strike="noStrike" kern="1200" baseline="0" dirty="0">
                          <a:solidFill>
                            <a:schemeClr val="dk1"/>
                          </a:solidFill>
                          <a:latin typeface="+mn-lt"/>
                          <a:ea typeface="+mn-ea"/>
                          <a:cs typeface="+mn-cs"/>
                        </a:rPr>
                        <a:t> 3 	</a:t>
                      </a:r>
                    </a:p>
                  </a:txBody>
                  <a:tcPr/>
                </a:tc>
                <a:tc>
                  <a:txBody>
                    <a:bodyPr/>
                    <a:lstStyle/>
                    <a:p>
                      <a:r>
                        <a:rPr lang="en-IN" sz="1600" dirty="0"/>
                        <a:t>B</a:t>
                      </a:r>
                    </a:p>
                  </a:txBody>
                  <a:tcPr/>
                </a:tc>
                <a:tc>
                  <a:txBody>
                    <a:bodyPr/>
                    <a:lstStyle/>
                    <a:p>
                      <a:r>
                        <a:rPr lang="en-IN" sz="1600" b="0" i="0" u="none" strike="noStrike" kern="1200" baseline="0" dirty="0">
                          <a:solidFill>
                            <a:schemeClr val="dk1"/>
                          </a:solidFill>
                          <a:latin typeface="+mn-lt"/>
                          <a:ea typeface="+mn-ea"/>
                          <a:cs typeface="+mn-cs"/>
                        </a:rPr>
                        <a:t>Ayushmaan 	</a:t>
                      </a:r>
                    </a:p>
                  </a:txBody>
                  <a:tcPr/>
                </a:tc>
                <a:tc>
                  <a:txBody>
                    <a:bodyPr/>
                    <a:lstStyle/>
                    <a:p>
                      <a:r>
                        <a:rPr lang="en-IN" sz="1600" dirty="0"/>
                        <a:t>1032212491</a:t>
                      </a:r>
                    </a:p>
                  </a:txBody>
                  <a:tcPr/>
                </a:tc>
                <a:extLst>
                  <a:ext uri="{0D108BD9-81ED-4DB2-BD59-A6C34878D82A}">
                    <a16:rowId xmlns:a16="http://schemas.microsoft.com/office/drawing/2014/main" val="10003"/>
                  </a:ext>
                </a:extLst>
              </a:tr>
              <a:tr h="466809">
                <a:tc>
                  <a:txBody>
                    <a:bodyPr/>
                    <a:lstStyle/>
                    <a:p>
                      <a:pPr algn="ctr"/>
                      <a:r>
                        <a:rPr lang="en-IN" sz="1600" b="0" i="0" u="none" strike="noStrike" kern="1200" baseline="0" dirty="0">
                          <a:solidFill>
                            <a:schemeClr val="dk1"/>
                          </a:solidFill>
                          <a:latin typeface="+mn-lt"/>
                          <a:ea typeface="+mn-ea"/>
                          <a:cs typeface="+mn-cs"/>
                        </a:rPr>
                        <a:t>4 	</a:t>
                      </a:r>
                    </a:p>
                  </a:txBody>
                  <a:tcPr/>
                </a:tc>
                <a:tc>
                  <a:txBody>
                    <a:bodyPr/>
                    <a:lstStyle/>
                    <a:p>
                      <a:r>
                        <a:rPr lang="en-IN" sz="1600" dirty="0"/>
                        <a:t>B</a:t>
                      </a:r>
                    </a:p>
                  </a:txBody>
                  <a:tcPr/>
                </a:tc>
                <a:tc>
                  <a:txBody>
                    <a:bodyPr/>
                    <a:lstStyle/>
                    <a:p>
                      <a:r>
                        <a:rPr lang="en-IN" sz="1600" b="0" i="0" u="none" strike="noStrike" kern="1200" baseline="0" dirty="0">
                          <a:solidFill>
                            <a:schemeClr val="dk1"/>
                          </a:solidFill>
                          <a:latin typeface="+mn-lt"/>
                          <a:ea typeface="+mn-ea"/>
                          <a:cs typeface="+mn-cs"/>
                        </a:rPr>
                        <a:t>Aryan Sharma 	</a:t>
                      </a:r>
                    </a:p>
                  </a:txBody>
                  <a:tcPr/>
                </a:tc>
                <a:tc>
                  <a:txBody>
                    <a:bodyPr/>
                    <a:lstStyle/>
                    <a:p>
                      <a:r>
                        <a:rPr lang="en-IN" sz="1600" dirty="0"/>
                        <a:t>1032212492</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lstStyle/>
          <a:p>
            <a:pPr algn="ctr"/>
            <a:r>
              <a:rPr lang="en-IN" dirty="0"/>
              <a:t>Table of Contents</a:t>
            </a:r>
          </a:p>
        </p:txBody>
      </p:sp>
      <p:sp>
        <p:nvSpPr>
          <p:cNvPr id="3" name="Content Placeholder 2"/>
          <p:cNvSpPr>
            <a:spLocks noGrp="1"/>
          </p:cNvSpPr>
          <p:nvPr>
            <p:ph sz="half" idx="1"/>
          </p:nvPr>
        </p:nvSpPr>
        <p:spPr>
          <a:xfrm>
            <a:off x="838200" y="1489166"/>
            <a:ext cx="10169434" cy="4687797"/>
          </a:xfrm>
        </p:spPr>
        <p:txBody>
          <a:bodyPr>
            <a:normAutofit fontScale="55000" lnSpcReduction="20000"/>
          </a:bodyPr>
          <a:lstStyle/>
          <a:p>
            <a:pPr marL="514350" indent="-514350">
              <a:buFont typeface="+mj-lt"/>
              <a:buAutoNum type="arabicPeriod"/>
            </a:pPr>
            <a:r>
              <a:rPr lang="en-IN" dirty="0"/>
              <a:t>Introduction</a:t>
            </a:r>
          </a:p>
          <a:p>
            <a:pPr marL="514350" indent="-514350">
              <a:buFont typeface="+mj-lt"/>
              <a:buAutoNum type="arabicPeriod"/>
            </a:pPr>
            <a:r>
              <a:rPr lang="en-IN" dirty="0"/>
              <a:t>Problem Statement</a:t>
            </a:r>
          </a:p>
          <a:p>
            <a:pPr marL="514350" indent="-514350">
              <a:buFont typeface="+mj-lt"/>
              <a:buAutoNum type="arabicPeriod"/>
            </a:pPr>
            <a:r>
              <a:rPr lang="en-IN" dirty="0"/>
              <a:t>Objectives</a:t>
            </a:r>
          </a:p>
          <a:p>
            <a:pPr marL="514350" indent="-514350">
              <a:buFont typeface="+mj-lt"/>
              <a:buAutoNum type="arabicPeriod"/>
            </a:pPr>
            <a:r>
              <a:rPr lang="en-US" dirty="0"/>
              <a:t>Literature Survey</a:t>
            </a:r>
          </a:p>
          <a:p>
            <a:pPr marL="514350" indent="-514350">
              <a:buFont typeface="+mj-lt"/>
              <a:buAutoNum type="arabicPeriod"/>
            </a:pPr>
            <a:r>
              <a:rPr lang="en-US" dirty="0"/>
              <a:t>Requirement Gathering</a:t>
            </a:r>
          </a:p>
          <a:p>
            <a:pPr marL="514350" indent="-514350">
              <a:buFont typeface="+mj-lt"/>
              <a:buAutoNum type="arabicPeriod"/>
            </a:pPr>
            <a:r>
              <a:rPr lang="en-US" dirty="0"/>
              <a:t>Project Timeline</a:t>
            </a:r>
            <a:endParaRPr lang="en-IN" dirty="0"/>
          </a:p>
          <a:p>
            <a:pPr marL="514350" indent="-514350">
              <a:buFont typeface="+mj-lt"/>
              <a:buAutoNum type="arabicPeriod"/>
            </a:pPr>
            <a:r>
              <a:rPr lang="en-IN" dirty="0"/>
              <a:t>System Features</a:t>
            </a:r>
          </a:p>
          <a:p>
            <a:pPr marL="514350" indent="-514350">
              <a:buFont typeface="+mj-lt"/>
              <a:buAutoNum type="arabicPeriod"/>
            </a:pPr>
            <a:r>
              <a:rPr lang="en-IN" dirty="0"/>
              <a:t>System Architecture</a:t>
            </a:r>
          </a:p>
          <a:p>
            <a:pPr marL="514350" indent="-514350">
              <a:buFont typeface="+mj-lt"/>
              <a:buAutoNum type="arabicPeriod"/>
            </a:pPr>
            <a:r>
              <a:rPr lang="en-IN" dirty="0"/>
              <a:t>Database Design</a:t>
            </a:r>
          </a:p>
          <a:p>
            <a:pPr marL="514350" indent="-514350">
              <a:buFont typeface="+mj-lt"/>
              <a:buAutoNum type="arabicPeriod"/>
            </a:pPr>
            <a:r>
              <a:rPr lang="en-IN" dirty="0"/>
              <a:t>Implementation Details</a:t>
            </a:r>
          </a:p>
          <a:p>
            <a:pPr marL="514350" indent="-514350">
              <a:buFont typeface="+mj-lt"/>
              <a:buAutoNum type="arabicPeriod"/>
            </a:pPr>
            <a:r>
              <a:rPr lang="en-IN" dirty="0"/>
              <a:t>Security Measures</a:t>
            </a:r>
          </a:p>
          <a:p>
            <a:pPr marL="514350" indent="-514350">
              <a:buFont typeface="+mj-lt"/>
              <a:buAutoNum type="arabicPeriod"/>
            </a:pPr>
            <a:r>
              <a:rPr lang="en-IN" dirty="0"/>
              <a:t>Testing</a:t>
            </a:r>
          </a:p>
          <a:p>
            <a:pPr marL="514350" indent="-514350">
              <a:buFont typeface="+mj-lt"/>
              <a:buAutoNum type="arabicPeriod"/>
            </a:pPr>
            <a:r>
              <a:rPr lang="en-IN" dirty="0"/>
              <a:t>Individual Contributions</a:t>
            </a:r>
          </a:p>
          <a:p>
            <a:pPr marL="514350" indent="-514350">
              <a:buFont typeface="+mj-lt"/>
              <a:buAutoNum type="arabicPeriod"/>
            </a:pPr>
            <a:r>
              <a:rPr lang="en-IN" dirty="0"/>
              <a:t>Future Aspects</a:t>
            </a:r>
          </a:p>
          <a:p>
            <a:pPr marL="514350" indent="-514350">
              <a:buFont typeface="+mj-lt"/>
              <a:buAutoNum type="arabicPeriod"/>
            </a:pPr>
            <a:r>
              <a:rPr lang="en-IN" dirty="0"/>
              <a:t>Conclusion</a:t>
            </a:r>
          </a:p>
          <a:p>
            <a:pPr marL="514350" indent="-514350">
              <a:buFont typeface="+mj-lt"/>
              <a:buAutoNum type="arabicPeriod"/>
            </a:pPr>
            <a:r>
              <a:rPr lang="en-IN" dirty="0"/>
              <a:t>References</a:t>
            </a:r>
          </a:p>
          <a:p>
            <a:pPr marL="0" indent="0">
              <a:buNone/>
            </a:pPr>
            <a:endParaRPr lang="en-IN" dirty="0"/>
          </a:p>
        </p:txBody>
      </p:sp>
      <p:sp>
        <p:nvSpPr>
          <p:cNvPr id="5" name="Date Placeholder 4"/>
          <p:cNvSpPr>
            <a:spLocks noGrp="1"/>
          </p:cNvSpPr>
          <p:nvPr>
            <p:ph type="dt" sz="half" idx="10"/>
          </p:nvPr>
        </p:nvSpPr>
        <p:spPr/>
        <p:txBody>
          <a:bodyPr/>
          <a:lstStyle/>
          <a:p>
            <a:fld id="{63A1C593-65D0-4073-BCC9-577B9352EA97}" type="datetime1">
              <a:rPr lang="en-US" smtClean="0"/>
              <a:t>1/22/2025</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a:t>
            </a:fld>
            <a:endParaRPr lang="en-US"/>
          </a:p>
        </p:txBody>
      </p:sp>
    </p:spTree>
    <p:extLst>
      <p:ext uri="{BB962C8B-B14F-4D97-AF65-F5344CB8AC3E}">
        <p14:creationId xmlns:p14="http://schemas.microsoft.com/office/powerpoint/2010/main" val="296307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6"/>
            <a:ext cx="10515600" cy="845366"/>
          </a:xfrm>
        </p:spPr>
        <p:txBody>
          <a:bodyPr/>
          <a:lstStyle/>
          <a:p>
            <a:pPr algn="ctr"/>
            <a:r>
              <a:rPr lang="en-IN" dirty="0"/>
              <a:t>Introduction</a:t>
            </a:r>
          </a:p>
        </p:txBody>
      </p:sp>
      <p:sp>
        <p:nvSpPr>
          <p:cNvPr id="8" name="Content Placeholder 7"/>
          <p:cNvSpPr>
            <a:spLocks noGrp="1"/>
          </p:cNvSpPr>
          <p:nvPr>
            <p:ph idx="1"/>
          </p:nvPr>
        </p:nvSpPr>
        <p:spPr>
          <a:xfrm>
            <a:off x="838200" y="1306286"/>
            <a:ext cx="10515600" cy="4870677"/>
          </a:xfrm>
        </p:spPr>
        <p:txBody>
          <a:bodyPr>
            <a:normAutofit/>
          </a:bodyPr>
          <a:lstStyle/>
          <a:p>
            <a:pPr marL="0" indent="0">
              <a:buNone/>
            </a:pPr>
            <a:r>
              <a:rPr lang="en-US" sz="2000" b="1" dirty="0"/>
              <a:t>Purpose</a:t>
            </a:r>
            <a:r>
              <a:rPr lang="en-US" sz="2000" dirty="0"/>
              <a:t>:</a:t>
            </a:r>
          </a:p>
          <a:p>
            <a:r>
              <a:rPr lang="en-US" sz="2000" dirty="0"/>
              <a:t>To streamline the process of managing college events efficiently.</a:t>
            </a:r>
          </a:p>
          <a:p>
            <a:r>
              <a:rPr lang="en-US" sz="2000" dirty="0"/>
              <a:t>Provide a centralized platform for event creation, updates, and participant management.</a:t>
            </a:r>
          </a:p>
          <a:p>
            <a:r>
              <a:rPr lang="en-US" sz="2000" dirty="0"/>
              <a:t>Ensure seamless communication between students, faculty, and event organizers.</a:t>
            </a:r>
          </a:p>
          <a:p>
            <a:endParaRPr lang="en-IN" dirty="0"/>
          </a:p>
          <a:p>
            <a:pPr marL="0" indent="0">
              <a:buNone/>
            </a:pPr>
            <a:r>
              <a:rPr lang="en-US" sz="1900" b="1" dirty="0"/>
              <a:t>Key Features</a:t>
            </a:r>
            <a:r>
              <a:rPr lang="en-US" sz="1900" dirty="0"/>
              <a:t>:</a:t>
            </a:r>
          </a:p>
          <a:p>
            <a:r>
              <a:rPr lang="en-US" sz="1900" dirty="0"/>
              <a:t>Online Event Creation: Organizers and admins can create and manage events.</a:t>
            </a:r>
          </a:p>
          <a:p>
            <a:r>
              <a:rPr lang="en-US" sz="1900" dirty="0"/>
              <a:t>Participant Registration: Students can easily register for events online.</a:t>
            </a:r>
          </a:p>
          <a:p>
            <a:r>
              <a:rPr lang="en-US" sz="1900" dirty="0"/>
              <a:t>Mail Notifications: Automated emails for event updates, cancellations, or postponements.</a:t>
            </a:r>
          </a:p>
          <a:p>
            <a:r>
              <a:rPr lang="en-US" sz="1900" dirty="0"/>
              <a:t>Role-Based Management: Access permissions based on user roles (Student, Faculty, Admin Faculty, Event Organizer).</a:t>
            </a:r>
          </a:p>
          <a:p>
            <a:r>
              <a:rPr lang="en-US" sz="1900" dirty="0"/>
              <a:t>Secure Data Handling: Password hashing, OTP verification, and secure login ensure data integrity.</a:t>
            </a:r>
          </a:p>
          <a:p>
            <a:endParaRPr lang="en-IN" dirty="0"/>
          </a:p>
          <a:p>
            <a:endParaRPr lang="en-IN" dirty="0"/>
          </a:p>
        </p:txBody>
      </p:sp>
      <p:sp>
        <p:nvSpPr>
          <p:cNvPr id="5" name="Date Placeholder 4"/>
          <p:cNvSpPr>
            <a:spLocks noGrp="1"/>
          </p:cNvSpPr>
          <p:nvPr>
            <p:ph type="dt" sz="half" idx="10"/>
          </p:nvPr>
        </p:nvSpPr>
        <p:spPr/>
        <p:txBody>
          <a:bodyPr/>
          <a:lstStyle/>
          <a:p>
            <a:fld id="{63A1C593-65D0-4073-BCC9-577B9352EA97}" type="datetime1">
              <a:rPr lang="en-US" smtClean="0"/>
              <a:t>1/22/2025</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3</a:t>
            </a:fld>
            <a:endParaRPr lang="en-US"/>
          </a:p>
        </p:txBody>
      </p:sp>
    </p:spTree>
    <p:extLst>
      <p:ext uri="{BB962C8B-B14F-4D97-AF65-F5344CB8AC3E}">
        <p14:creationId xmlns:p14="http://schemas.microsoft.com/office/powerpoint/2010/main" val="4057085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Problem Statement</a:t>
            </a:r>
          </a:p>
        </p:txBody>
      </p:sp>
      <p:sp>
        <p:nvSpPr>
          <p:cNvPr id="3" name="Content Placeholder 2"/>
          <p:cNvSpPr>
            <a:spLocks noGrp="1"/>
          </p:cNvSpPr>
          <p:nvPr>
            <p:ph idx="1"/>
          </p:nvPr>
        </p:nvSpPr>
        <p:spPr/>
        <p:txBody>
          <a:bodyPr>
            <a:normAutofit fontScale="92500"/>
          </a:bodyPr>
          <a:lstStyle/>
          <a:p>
            <a:pPr marL="0" indent="0">
              <a:buNone/>
            </a:pPr>
            <a:r>
              <a:rPr lang="en-US" sz="1800" dirty="0"/>
              <a:t>Colleges organize numerous events throughout the academic year, often involving multiple stakeholders such as students, faculty, and event organizers. Managing these events manually can be inefficient, leading to miscommunication, scheduling conflicts, and poor event participation. There is a need for a streamlined, centralized system that can efficiently handle event planning, management, and communication for all college-related activities.</a:t>
            </a:r>
          </a:p>
          <a:p>
            <a:pPr marL="0" indent="0">
              <a:buNone/>
            </a:pPr>
            <a:endParaRPr lang="en-US" sz="1800" dirty="0"/>
          </a:p>
          <a:p>
            <a:pPr marL="0" indent="0">
              <a:buNone/>
            </a:pPr>
            <a:r>
              <a:rPr lang="en-US" sz="1800" dirty="0"/>
              <a:t>The </a:t>
            </a:r>
            <a:r>
              <a:rPr lang="en-US" sz="1800" b="1" dirty="0"/>
              <a:t>key challenges</a:t>
            </a:r>
            <a:r>
              <a:rPr lang="en-US" sz="1800" dirty="0"/>
              <a:t> include:</a:t>
            </a:r>
          </a:p>
          <a:p>
            <a:r>
              <a:rPr lang="en-US" sz="1800" dirty="0"/>
              <a:t>Lack of a unified platform to compile and display all college events.</a:t>
            </a:r>
          </a:p>
          <a:p>
            <a:r>
              <a:rPr lang="en-US" sz="1800" dirty="0"/>
              <a:t>Difficulty in ensuring secure access and role-based management of event data.</a:t>
            </a:r>
          </a:p>
          <a:p>
            <a:r>
              <a:rPr lang="en-US" sz="1800" dirty="0"/>
              <a:t>Inefficiencies in event information retrieval and participant engagement.</a:t>
            </a:r>
          </a:p>
          <a:p>
            <a:endParaRPr lang="en-US" sz="1800" dirty="0"/>
          </a:p>
          <a:p>
            <a:pPr marL="0" indent="0">
              <a:buNone/>
            </a:pPr>
            <a:r>
              <a:rPr lang="en-US" sz="1800" dirty="0"/>
              <a:t>Thus, there is a need for a web-based </a:t>
            </a:r>
            <a:r>
              <a:rPr lang="en-US" sz="1800" b="1" dirty="0"/>
              <a:t>College Event Management System</a:t>
            </a:r>
            <a:r>
              <a:rPr lang="en-US" sz="1800" dirty="0"/>
              <a:t> that offers a comprehensive solution for organizing, managing, and participating in college events. This system should allow students, faculty, and organizers to access event details, interact with them, and improve the overall experience of event participation</a:t>
            </a:r>
            <a:r>
              <a:rPr lang="en-US" dirty="0"/>
              <a:t>.</a:t>
            </a:r>
          </a:p>
          <a:p>
            <a:pPr marL="0" indent="0">
              <a:buNone/>
            </a:pPr>
            <a:endParaRPr lang="en-US"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lstStyle/>
          <a:p>
            <a:pPr algn="ctr"/>
            <a:r>
              <a:rPr lang="en-US" dirty="0"/>
              <a:t>Objectives</a:t>
            </a:r>
            <a:endParaRPr lang="en-IN" dirty="0"/>
          </a:p>
        </p:txBody>
      </p:sp>
      <p:sp>
        <p:nvSpPr>
          <p:cNvPr id="3" name="Content Placeholder 2"/>
          <p:cNvSpPr>
            <a:spLocks noGrp="1"/>
          </p:cNvSpPr>
          <p:nvPr>
            <p:ph idx="1"/>
          </p:nvPr>
        </p:nvSpPr>
        <p:spPr>
          <a:xfrm>
            <a:off x="838200" y="1515291"/>
            <a:ext cx="10515600" cy="4661672"/>
          </a:xfrm>
        </p:spPr>
        <p:txBody>
          <a:bodyPr>
            <a:normAutofit/>
          </a:bodyPr>
          <a:lstStyle/>
          <a:p>
            <a:pPr marL="0" indent="0">
              <a:buNone/>
            </a:pPr>
            <a:r>
              <a:rPr lang="en-US" sz="1800" b="1" dirty="0"/>
              <a:t>User-Friendly Interface</a:t>
            </a:r>
            <a:endParaRPr lang="en-US" sz="1800" dirty="0"/>
          </a:p>
          <a:p>
            <a:r>
              <a:rPr lang="en-US" sz="1800" dirty="0"/>
              <a:t>Design an intuitive and interactive platform that simplifies event management for users.</a:t>
            </a:r>
          </a:p>
          <a:p>
            <a:r>
              <a:rPr lang="en-US" sz="1800" dirty="0"/>
              <a:t>Ensure ease of navigation for students, faculty, and event organizers with dedicated dashboards.</a:t>
            </a:r>
          </a:p>
          <a:p>
            <a:endParaRPr lang="en-US" sz="1800" dirty="0"/>
          </a:p>
          <a:p>
            <a:pPr marL="0" indent="0">
              <a:buNone/>
            </a:pPr>
            <a:r>
              <a:rPr lang="en-US" sz="1800" b="1" dirty="0"/>
              <a:t>Efficient Tracking</a:t>
            </a:r>
            <a:endParaRPr lang="en-US" sz="1800" dirty="0"/>
          </a:p>
          <a:p>
            <a:r>
              <a:rPr lang="en-US" sz="1800" dirty="0"/>
              <a:t>Centralize all event-related data, including registrations, schedules, and updates.</a:t>
            </a:r>
          </a:p>
          <a:p>
            <a:r>
              <a:rPr lang="en-US" sz="1800" dirty="0"/>
              <a:t>Allow users to track event statuses (pending, approved, or canceled) in real time.</a:t>
            </a:r>
          </a:p>
          <a:p>
            <a:pPr marL="0" indent="0">
              <a:buNone/>
            </a:pPr>
            <a:endParaRPr lang="en-US" sz="1800" dirty="0"/>
          </a:p>
          <a:p>
            <a:pPr marL="0" indent="0">
              <a:buNone/>
            </a:pPr>
            <a:r>
              <a:rPr lang="en-US" sz="1800" b="1" dirty="0"/>
              <a:t>Scalability</a:t>
            </a:r>
            <a:endParaRPr lang="en-US" sz="1800" dirty="0"/>
          </a:p>
          <a:p>
            <a:r>
              <a:rPr lang="en-US" sz="1800" dirty="0"/>
              <a:t>Develop a system architecture capable of supporting an increasing number of users and events.</a:t>
            </a:r>
          </a:p>
          <a:p>
            <a:r>
              <a:rPr lang="en-US" sz="1800" dirty="0"/>
              <a:t>Design the database and backend logic to accommodate future enhancements and higher traffic.</a:t>
            </a:r>
          </a:p>
          <a:p>
            <a:pPr marL="0" indent="0">
              <a:buNone/>
            </a:pPr>
            <a:endParaRPr lang="en-US" sz="1800" dirty="0"/>
          </a:p>
          <a:p>
            <a:endParaRPr lang="en-IN"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5</a:t>
            </a:fld>
            <a:endParaRPr lang="en-US"/>
          </a:p>
        </p:txBody>
      </p:sp>
    </p:spTree>
    <p:extLst>
      <p:ext uri="{BB962C8B-B14F-4D97-AF65-F5344CB8AC3E}">
        <p14:creationId xmlns:p14="http://schemas.microsoft.com/office/powerpoint/2010/main" val="358555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286"/>
          </a:xfrm>
        </p:spPr>
        <p:txBody>
          <a:bodyPr/>
          <a:lstStyle/>
          <a:p>
            <a:pPr algn="ctr"/>
            <a:r>
              <a:rPr lang="en-US" dirty="0"/>
              <a:t>Literature Survey</a:t>
            </a:r>
            <a:endParaRPr lang="en-IN" dirty="0"/>
          </a:p>
        </p:txBody>
      </p:sp>
      <p:pic>
        <p:nvPicPr>
          <p:cNvPr id="6" name="Content Placeholder 5"/>
          <p:cNvPicPr>
            <a:picLocks noGrp="1" noChangeAspect="1"/>
          </p:cNvPicPr>
          <p:nvPr>
            <p:ph idx="1"/>
          </p:nvPr>
        </p:nvPicPr>
        <p:blipFill>
          <a:blip r:embed="rId2"/>
          <a:stretch>
            <a:fillRect/>
          </a:stretch>
        </p:blipFill>
        <p:spPr>
          <a:xfrm>
            <a:off x="1458828" y="1706880"/>
            <a:ext cx="9894972" cy="4226251"/>
          </a:xfrm>
          <a:prstGeom prst="rect">
            <a:avLst/>
          </a:prstGeom>
        </p:spPr>
      </p:pic>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6</a:t>
            </a:fld>
            <a:endParaRPr lang="en-US"/>
          </a:p>
        </p:txBody>
      </p:sp>
    </p:spTree>
    <p:extLst>
      <p:ext uri="{BB962C8B-B14F-4D97-AF65-F5344CB8AC3E}">
        <p14:creationId xmlns:p14="http://schemas.microsoft.com/office/powerpoint/2010/main" val="81972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521428" y="1672045"/>
            <a:ext cx="9114310" cy="4162698"/>
          </a:xfrm>
          <a:prstGeom prst="rect">
            <a:avLst/>
          </a:prstGeom>
        </p:spPr>
      </p:pic>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7</a:t>
            </a:fld>
            <a:endParaRPr lang="en-US"/>
          </a:p>
        </p:txBody>
      </p:sp>
      <p:sp>
        <p:nvSpPr>
          <p:cNvPr id="7" name="Title 1"/>
          <p:cNvSpPr>
            <a:spLocks noGrp="1"/>
          </p:cNvSpPr>
          <p:nvPr>
            <p:ph type="title"/>
          </p:nvPr>
        </p:nvSpPr>
        <p:spPr>
          <a:xfrm>
            <a:off x="838200" y="365126"/>
            <a:ext cx="10515600" cy="967286"/>
          </a:xfrm>
        </p:spPr>
        <p:txBody>
          <a:bodyPr/>
          <a:lstStyle/>
          <a:p>
            <a:pPr algn="ctr"/>
            <a:r>
              <a:rPr lang="en-US" dirty="0"/>
              <a:t>Literature Survey</a:t>
            </a:r>
            <a:endParaRPr lang="en-IN" dirty="0"/>
          </a:p>
        </p:txBody>
      </p:sp>
    </p:spTree>
    <p:extLst>
      <p:ext uri="{BB962C8B-B14F-4D97-AF65-F5344CB8AC3E}">
        <p14:creationId xmlns:p14="http://schemas.microsoft.com/office/powerpoint/2010/main" val="3146010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76292"/>
          </a:xfrm>
        </p:spPr>
        <p:txBody>
          <a:bodyPr/>
          <a:lstStyle/>
          <a:p>
            <a:pPr algn="ctr"/>
            <a:r>
              <a:rPr lang="en-US" dirty="0"/>
              <a:t>Literature Survey</a:t>
            </a:r>
            <a:endParaRPr lang="en-IN" dirty="0"/>
          </a:p>
        </p:txBody>
      </p:sp>
      <p:pic>
        <p:nvPicPr>
          <p:cNvPr id="6" name="Content Placeholder 5"/>
          <p:cNvPicPr>
            <a:picLocks noGrp="1" noChangeAspect="1"/>
          </p:cNvPicPr>
          <p:nvPr>
            <p:ph idx="1"/>
          </p:nvPr>
        </p:nvPicPr>
        <p:blipFill>
          <a:blip r:embed="rId2"/>
          <a:stretch>
            <a:fillRect/>
          </a:stretch>
        </p:blipFill>
        <p:spPr>
          <a:xfrm>
            <a:off x="1458828" y="2202818"/>
            <a:ext cx="9274344" cy="3596952"/>
          </a:xfrm>
          <a:prstGeom prst="rect">
            <a:avLst/>
          </a:prstGeom>
        </p:spPr>
      </p:pic>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8</a:t>
            </a:fld>
            <a:endParaRPr lang="en-US"/>
          </a:p>
        </p:txBody>
      </p:sp>
    </p:spTree>
    <p:extLst>
      <p:ext uri="{BB962C8B-B14F-4D97-AF65-F5344CB8AC3E}">
        <p14:creationId xmlns:p14="http://schemas.microsoft.com/office/powerpoint/2010/main" val="798785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lstStyle/>
          <a:p>
            <a:pPr algn="ctr"/>
            <a:r>
              <a:rPr lang="en-IN" dirty="0"/>
              <a:t>Requirement Gathering</a:t>
            </a:r>
          </a:p>
        </p:txBody>
      </p:sp>
      <p:sp>
        <p:nvSpPr>
          <p:cNvPr id="3" name="Content Placeholder 2"/>
          <p:cNvSpPr>
            <a:spLocks noGrp="1"/>
          </p:cNvSpPr>
          <p:nvPr>
            <p:ph idx="1"/>
          </p:nvPr>
        </p:nvSpPr>
        <p:spPr>
          <a:xfrm>
            <a:off x="838200" y="1532709"/>
            <a:ext cx="10515600" cy="4644254"/>
          </a:xfrm>
        </p:spPr>
        <p:txBody>
          <a:bodyPr/>
          <a:lstStyle/>
          <a:p>
            <a:pPr marL="0" indent="0">
              <a:buNone/>
            </a:pPr>
            <a:r>
              <a:rPr lang="en-US" sz="1800" b="1" dirty="0"/>
              <a:t>Activities</a:t>
            </a:r>
            <a:r>
              <a:rPr lang="en-US" sz="1800" dirty="0"/>
              <a:t>:</a:t>
            </a:r>
          </a:p>
          <a:p>
            <a:r>
              <a:rPr lang="en-US" sz="1800" dirty="0"/>
              <a:t>Conducted Google Form survey to gather feedback from students, faculty, and event organizers.</a:t>
            </a:r>
          </a:p>
          <a:p>
            <a:r>
              <a:rPr lang="en-US" sz="1800" dirty="0"/>
              <a:t>Analyzed responses to identify pain points and role-specific requirements.</a:t>
            </a:r>
          </a:p>
          <a:p>
            <a:endParaRPr lang="en-IN"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9</a:t>
            </a:fld>
            <a:endParaRPr lang="en-US"/>
          </a:p>
        </p:txBody>
      </p:sp>
      <p:pic>
        <p:nvPicPr>
          <p:cNvPr id="6" name="Picture 5"/>
          <p:cNvPicPr>
            <a:picLocks noChangeAspect="1"/>
          </p:cNvPicPr>
          <p:nvPr/>
        </p:nvPicPr>
        <p:blipFill>
          <a:blip r:embed="rId2"/>
          <a:stretch>
            <a:fillRect/>
          </a:stretch>
        </p:blipFill>
        <p:spPr>
          <a:xfrm>
            <a:off x="1992087" y="2841170"/>
            <a:ext cx="8621484" cy="3248479"/>
          </a:xfrm>
          <a:prstGeom prst="rect">
            <a:avLst/>
          </a:prstGeom>
        </p:spPr>
      </p:pic>
    </p:spTree>
    <p:extLst>
      <p:ext uri="{BB962C8B-B14F-4D97-AF65-F5344CB8AC3E}">
        <p14:creationId xmlns:p14="http://schemas.microsoft.com/office/powerpoint/2010/main" val="2705433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normAutofit/>
          </a:bodyPr>
          <a:lstStyle/>
          <a:p>
            <a:pPr algn="ctr"/>
            <a:r>
              <a:rPr lang="en-IN" sz="4000" dirty="0"/>
              <a:t>Student Requirement Analysis</a:t>
            </a:r>
          </a:p>
        </p:txBody>
      </p:sp>
      <p:pic>
        <p:nvPicPr>
          <p:cNvPr id="7" name="Content Placeholder 6"/>
          <p:cNvPicPr>
            <a:picLocks noGrp="1" noChangeAspect="1"/>
          </p:cNvPicPr>
          <p:nvPr>
            <p:ph idx="1"/>
          </p:nvPr>
        </p:nvPicPr>
        <p:blipFill>
          <a:blip r:embed="rId2"/>
          <a:stretch>
            <a:fillRect/>
          </a:stretch>
        </p:blipFill>
        <p:spPr>
          <a:xfrm>
            <a:off x="838200" y="1778715"/>
            <a:ext cx="5671457" cy="4151471"/>
          </a:xfrm>
          <a:prstGeom prst="rect">
            <a:avLst/>
          </a:prstGeom>
        </p:spPr>
      </p:pic>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10</a:t>
            </a:fld>
            <a:endParaRPr lang="en-US"/>
          </a:p>
        </p:txBody>
      </p:sp>
      <p:pic>
        <p:nvPicPr>
          <p:cNvPr id="8" name="Picture 7"/>
          <p:cNvPicPr>
            <a:picLocks noChangeAspect="1"/>
          </p:cNvPicPr>
          <p:nvPr/>
        </p:nvPicPr>
        <p:blipFill>
          <a:blip r:embed="rId3"/>
          <a:stretch>
            <a:fillRect/>
          </a:stretch>
        </p:blipFill>
        <p:spPr>
          <a:xfrm>
            <a:off x="6803570" y="1778715"/>
            <a:ext cx="5236030" cy="4230199"/>
          </a:xfrm>
          <a:prstGeom prst="rect">
            <a:avLst/>
          </a:prstGeom>
        </p:spPr>
      </p:pic>
    </p:spTree>
    <p:extLst>
      <p:ext uri="{BB962C8B-B14F-4D97-AF65-F5344CB8AC3E}">
        <p14:creationId xmlns:p14="http://schemas.microsoft.com/office/powerpoint/2010/main" val="2839095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normAutofit/>
          </a:bodyPr>
          <a:lstStyle/>
          <a:p>
            <a:pPr algn="ctr"/>
            <a:r>
              <a:rPr lang="en-IN" sz="4000" dirty="0"/>
              <a:t>Faculty Requirement Analysis</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dirty="0"/>
          </a:p>
        </p:txBody>
      </p:sp>
      <p:sp>
        <p:nvSpPr>
          <p:cNvPr id="5" name="Slide Number Placeholder 4"/>
          <p:cNvSpPr>
            <a:spLocks noGrp="1"/>
          </p:cNvSpPr>
          <p:nvPr>
            <p:ph type="sldNum" sz="quarter" idx="12"/>
          </p:nvPr>
        </p:nvSpPr>
        <p:spPr/>
        <p:txBody>
          <a:bodyPr/>
          <a:lstStyle/>
          <a:p>
            <a:fld id="{9B618960-8005-486C-9A75-10CB2AAC16F9}" type="slidenum">
              <a:rPr lang="en-US" smtClean="0"/>
              <a:t>11</a:t>
            </a:fld>
            <a:endParaRPr lang="en-US"/>
          </a:p>
        </p:txBody>
      </p:sp>
      <p:pic>
        <p:nvPicPr>
          <p:cNvPr id="6" name="Picture 5"/>
          <p:cNvPicPr>
            <a:picLocks noChangeAspect="1"/>
          </p:cNvPicPr>
          <p:nvPr/>
        </p:nvPicPr>
        <p:blipFill>
          <a:blip r:embed="rId2"/>
          <a:stretch>
            <a:fillRect/>
          </a:stretch>
        </p:blipFill>
        <p:spPr>
          <a:xfrm>
            <a:off x="914400" y="1778715"/>
            <a:ext cx="5508171" cy="4398248"/>
          </a:xfrm>
          <a:prstGeom prst="rect">
            <a:avLst/>
          </a:prstGeom>
        </p:spPr>
      </p:pic>
      <p:pic>
        <p:nvPicPr>
          <p:cNvPr id="9" name="Picture 8"/>
          <p:cNvPicPr>
            <a:picLocks noChangeAspect="1"/>
          </p:cNvPicPr>
          <p:nvPr/>
        </p:nvPicPr>
        <p:blipFill>
          <a:blip r:embed="rId3"/>
          <a:stretch>
            <a:fillRect/>
          </a:stretch>
        </p:blipFill>
        <p:spPr>
          <a:xfrm>
            <a:off x="6567540" y="1825625"/>
            <a:ext cx="5395860" cy="4399170"/>
          </a:xfrm>
          <a:prstGeom prst="rect">
            <a:avLst/>
          </a:prstGeom>
        </p:spPr>
      </p:pic>
    </p:spTree>
    <p:extLst>
      <p:ext uri="{BB962C8B-B14F-4D97-AF65-F5344CB8AC3E}">
        <p14:creationId xmlns:p14="http://schemas.microsoft.com/office/powerpoint/2010/main" val="2872057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normAutofit/>
          </a:bodyPr>
          <a:lstStyle/>
          <a:p>
            <a:pPr algn="ctr"/>
            <a:r>
              <a:rPr lang="en-IN" sz="4000" dirty="0"/>
              <a:t>Faculty Requirement Analysis</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dirty="0"/>
          </a:p>
        </p:txBody>
      </p:sp>
      <p:sp>
        <p:nvSpPr>
          <p:cNvPr id="5" name="Slide Number Placeholder 4"/>
          <p:cNvSpPr>
            <a:spLocks noGrp="1"/>
          </p:cNvSpPr>
          <p:nvPr>
            <p:ph type="sldNum" sz="quarter" idx="12"/>
          </p:nvPr>
        </p:nvSpPr>
        <p:spPr/>
        <p:txBody>
          <a:bodyPr/>
          <a:lstStyle/>
          <a:p>
            <a:fld id="{9B618960-8005-486C-9A75-10CB2AAC16F9}" type="slidenum">
              <a:rPr lang="en-US" smtClean="0"/>
              <a:t>12</a:t>
            </a:fld>
            <a:endParaRPr lang="en-US"/>
          </a:p>
        </p:txBody>
      </p:sp>
      <p:pic>
        <p:nvPicPr>
          <p:cNvPr id="7" name="Picture 6"/>
          <p:cNvPicPr>
            <a:picLocks noChangeAspect="1"/>
          </p:cNvPicPr>
          <p:nvPr/>
        </p:nvPicPr>
        <p:blipFill>
          <a:blip r:embed="rId2"/>
          <a:stretch>
            <a:fillRect/>
          </a:stretch>
        </p:blipFill>
        <p:spPr>
          <a:xfrm>
            <a:off x="990600" y="1825625"/>
            <a:ext cx="5464629" cy="4480174"/>
          </a:xfrm>
          <a:prstGeom prst="rect">
            <a:avLst/>
          </a:prstGeom>
        </p:spPr>
      </p:pic>
      <p:pic>
        <p:nvPicPr>
          <p:cNvPr id="8" name="Picture 7"/>
          <p:cNvPicPr>
            <a:picLocks noChangeAspect="1"/>
          </p:cNvPicPr>
          <p:nvPr/>
        </p:nvPicPr>
        <p:blipFill>
          <a:blip r:embed="rId3"/>
          <a:stretch>
            <a:fillRect/>
          </a:stretch>
        </p:blipFill>
        <p:spPr>
          <a:xfrm>
            <a:off x="6705600" y="1838073"/>
            <a:ext cx="5044266" cy="4518277"/>
          </a:xfrm>
          <a:prstGeom prst="rect">
            <a:avLst/>
          </a:prstGeom>
        </p:spPr>
      </p:pic>
    </p:spTree>
    <p:extLst>
      <p:ext uri="{BB962C8B-B14F-4D97-AF65-F5344CB8AC3E}">
        <p14:creationId xmlns:p14="http://schemas.microsoft.com/office/powerpoint/2010/main" val="603150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normAutofit/>
          </a:bodyPr>
          <a:lstStyle/>
          <a:p>
            <a:pPr algn="ctr"/>
            <a:r>
              <a:rPr lang="en-IN" sz="4000" dirty="0"/>
              <a:t>Event Organiser Requirement Analysis</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dirty="0"/>
          </a:p>
        </p:txBody>
      </p:sp>
      <p:sp>
        <p:nvSpPr>
          <p:cNvPr id="5" name="Slide Number Placeholder 4"/>
          <p:cNvSpPr>
            <a:spLocks noGrp="1"/>
          </p:cNvSpPr>
          <p:nvPr>
            <p:ph type="sldNum" sz="quarter" idx="12"/>
          </p:nvPr>
        </p:nvSpPr>
        <p:spPr/>
        <p:txBody>
          <a:bodyPr/>
          <a:lstStyle/>
          <a:p>
            <a:fld id="{9B618960-8005-486C-9A75-10CB2AAC16F9}" type="slidenum">
              <a:rPr lang="en-US" smtClean="0"/>
              <a:t>13</a:t>
            </a:fld>
            <a:endParaRPr lang="en-US"/>
          </a:p>
        </p:txBody>
      </p:sp>
      <p:pic>
        <p:nvPicPr>
          <p:cNvPr id="3" name="Picture 2"/>
          <p:cNvPicPr>
            <a:picLocks noChangeAspect="1"/>
          </p:cNvPicPr>
          <p:nvPr/>
        </p:nvPicPr>
        <p:blipFill>
          <a:blip r:embed="rId2"/>
          <a:stretch>
            <a:fillRect/>
          </a:stretch>
        </p:blipFill>
        <p:spPr>
          <a:xfrm>
            <a:off x="634444" y="1835279"/>
            <a:ext cx="5893911" cy="4521071"/>
          </a:xfrm>
          <a:prstGeom prst="rect">
            <a:avLst/>
          </a:prstGeom>
        </p:spPr>
      </p:pic>
      <p:pic>
        <p:nvPicPr>
          <p:cNvPr id="6" name="Picture 5"/>
          <p:cNvPicPr>
            <a:picLocks noChangeAspect="1"/>
          </p:cNvPicPr>
          <p:nvPr/>
        </p:nvPicPr>
        <p:blipFill>
          <a:blip r:embed="rId3"/>
          <a:stretch>
            <a:fillRect/>
          </a:stretch>
        </p:blipFill>
        <p:spPr>
          <a:xfrm>
            <a:off x="6810099" y="1836296"/>
            <a:ext cx="4543701" cy="4520054"/>
          </a:xfrm>
          <a:prstGeom prst="rect">
            <a:avLst/>
          </a:prstGeom>
        </p:spPr>
      </p:pic>
    </p:spTree>
    <p:extLst>
      <p:ext uri="{BB962C8B-B14F-4D97-AF65-F5344CB8AC3E}">
        <p14:creationId xmlns:p14="http://schemas.microsoft.com/office/powerpoint/2010/main" val="2245807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normAutofit/>
          </a:bodyPr>
          <a:lstStyle/>
          <a:p>
            <a:pPr algn="ctr"/>
            <a:r>
              <a:rPr lang="en-IN" sz="4000" dirty="0"/>
              <a:t>Event Organiser Requirement Analysis</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dirty="0"/>
          </a:p>
        </p:txBody>
      </p:sp>
      <p:sp>
        <p:nvSpPr>
          <p:cNvPr id="5" name="Slide Number Placeholder 4"/>
          <p:cNvSpPr>
            <a:spLocks noGrp="1"/>
          </p:cNvSpPr>
          <p:nvPr>
            <p:ph type="sldNum" sz="quarter" idx="12"/>
          </p:nvPr>
        </p:nvSpPr>
        <p:spPr/>
        <p:txBody>
          <a:bodyPr/>
          <a:lstStyle/>
          <a:p>
            <a:fld id="{9B618960-8005-486C-9A75-10CB2AAC16F9}" type="slidenum">
              <a:rPr lang="en-US" smtClean="0"/>
              <a:t>14</a:t>
            </a:fld>
            <a:endParaRPr lang="en-US"/>
          </a:p>
        </p:txBody>
      </p:sp>
      <p:pic>
        <p:nvPicPr>
          <p:cNvPr id="7" name="Picture 6"/>
          <p:cNvPicPr>
            <a:picLocks noChangeAspect="1"/>
          </p:cNvPicPr>
          <p:nvPr/>
        </p:nvPicPr>
        <p:blipFill>
          <a:blip r:embed="rId2"/>
          <a:stretch>
            <a:fillRect/>
          </a:stretch>
        </p:blipFill>
        <p:spPr>
          <a:xfrm>
            <a:off x="2024743" y="1593063"/>
            <a:ext cx="8828314" cy="4520054"/>
          </a:xfrm>
          <a:prstGeom prst="rect">
            <a:avLst/>
          </a:prstGeom>
        </p:spPr>
      </p:pic>
    </p:spTree>
    <p:extLst>
      <p:ext uri="{BB962C8B-B14F-4D97-AF65-F5344CB8AC3E}">
        <p14:creationId xmlns:p14="http://schemas.microsoft.com/office/powerpoint/2010/main" val="71336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normAutofit/>
          </a:bodyPr>
          <a:lstStyle/>
          <a:p>
            <a:pPr algn="ctr"/>
            <a:r>
              <a:rPr lang="en-US" sz="3600" dirty="0"/>
              <a:t> </a:t>
            </a:r>
            <a:r>
              <a:rPr lang="en-IN" sz="3600" b="1" dirty="0"/>
              <a:t>H/w Requirements</a:t>
            </a:r>
            <a:endParaRPr lang="en-US" sz="3600" dirty="0"/>
          </a:p>
        </p:txBody>
      </p:sp>
      <p:sp>
        <p:nvSpPr>
          <p:cNvPr id="3" name="Content Placeholder 2"/>
          <p:cNvSpPr>
            <a:spLocks noGrp="1"/>
          </p:cNvSpPr>
          <p:nvPr>
            <p:ph idx="1"/>
          </p:nvPr>
        </p:nvSpPr>
        <p:spPr>
          <a:xfrm>
            <a:off x="838200" y="1381488"/>
            <a:ext cx="10515600" cy="4974862"/>
          </a:xfrm>
        </p:spPr>
        <p:txBody>
          <a:bodyPr>
            <a:normAutofit/>
          </a:bodyPr>
          <a:lstStyle/>
          <a:p>
            <a:pPr marL="0" indent="0">
              <a:buNone/>
            </a:pPr>
            <a:endParaRPr lang="en-IN" sz="2000" b="1" dirty="0"/>
          </a:p>
          <a:p>
            <a:pPr marL="0" indent="0">
              <a:buNone/>
            </a:pPr>
            <a:r>
              <a:rPr lang="en-IN" sz="2000" b="1" dirty="0"/>
              <a:t>Hardware Requirements: </a:t>
            </a:r>
          </a:p>
          <a:p>
            <a:pPr marL="0" indent="0">
              <a:buNone/>
            </a:pPr>
            <a:endParaRPr lang="en-IN" sz="2000" dirty="0"/>
          </a:p>
          <a:p>
            <a:r>
              <a:rPr lang="en-IN" sz="2000" b="1" dirty="0"/>
              <a:t>Processor: </a:t>
            </a:r>
            <a:r>
              <a:rPr lang="en-IN" sz="2000" dirty="0"/>
              <a:t>Multi-core CPU (e.g., Intel i5/i7 or AMD </a:t>
            </a:r>
            <a:r>
              <a:rPr lang="en-IN" sz="2000" dirty="0" err="1"/>
              <a:t>Ryzen</a:t>
            </a:r>
            <a:r>
              <a:rPr lang="en-IN" sz="2000" dirty="0"/>
              <a:t> 5/7) for efficient handling of multiple processes. </a:t>
            </a:r>
          </a:p>
          <a:p>
            <a:r>
              <a:rPr lang="en-US" sz="2000" b="1" dirty="0"/>
              <a:t>Memory: </a:t>
            </a:r>
            <a:r>
              <a:rPr lang="en-US" sz="2000" dirty="0"/>
              <a:t>8GB RAM (16GB recommended for smoother development and testing environments). </a:t>
            </a:r>
          </a:p>
          <a:p>
            <a:r>
              <a:rPr lang="en-US" sz="2000" b="1" dirty="0"/>
              <a:t>Storage: </a:t>
            </a:r>
            <a:r>
              <a:rPr lang="en-US" sz="2000" dirty="0"/>
              <a:t>SSD with at least 256GB of storage (to store project files, databases, and application data). </a:t>
            </a:r>
          </a:p>
          <a:p>
            <a:r>
              <a:rPr lang="en-US" sz="2000" b="1" dirty="0"/>
              <a:t>Network: </a:t>
            </a:r>
            <a:r>
              <a:rPr lang="en-US" sz="2000" dirty="0"/>
              <a:t>Reliable high-speed internet connection for accessing cloud services, API integrations, and online resources. </a:t>
            </a:r>
          </a:p>
          <a:p>
            <a:r>
              <a:rPr lang="en-US" sz="2000" b="1" dirty="0"/>
              <a:t>User Devices: </a:t>
            </a:r>
            <a:r>
              <a:rPr lang="en-US" sz="2000" dirty="0"/>
              <a:t>Desktop/Laptop with a web browser for development, testing, and accessing the Event Management System. </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normAutofit/>
          </a:bodyPr>
          <a:lstStyle/>
          <a:p>
            <a:pPr algn="ctr"/>
            <a:r>
              <a:rPr lang="en-IN" sz="4000" b="1" dirty="0"/>
              <a:t>S/w Requirements</a:t>
            </a:r>
            <a:endParaRPr lang="en-IN" sz="4000" dirty="0"/>
          </a:p>
        </p:txBody>
      </p:sp>
      <p:sp>
        <p:nvSpPr>
          <p:cNvPr id="3" name="Content Placeholder 2"/>
          <p:cNvSpPr>
            <a:spLocks noGrp="1"/>
          </p:cNvSpPr>
          <p:nvPr>
            <p:ph idx="1"/>
          </p:nvPr>
        </p:nvSpPr>
        <p:spPr>
          <a:xfrm>
            <a:off x="838200" y="1436914"/>
            <a:ext cx="10515600" cy="4740049"/>
          </a:xfrm>
        </p:spPr>
        <p:txBody>
          <a:bodyPr>
            <a:normAutofit/>
          </a:bodyPr>
          <a:lstStyle/>
          <a:p>
            <a:pPr marL="0" indent="0">
              <a:buNone/>
            </a:pPr>
            <a:r>
              <a:rPr lang="en-IN" sz="1900" b="1" dirty="0"/>
              <a:t>Software Requirements: </a:t>
            </a:r>
          </a:p>
          <a:p>
            <a:pPr marL="0" indent="0">
              <a:buNone/>
            </a:pPr>
            <a:endParaRPr lang="en-IN" sz="1900" dirty="0"/>
          </a:p>
          <a:p>
            <a:r>
              <a:rPr lang="en-US" sz="1900" b="1" dirty="0"/>
              <a:t>Operating System: </a:t>
            </a:r>
            <a:r>
              <a:rPr lang="en-US" sz="1900" dirty="0"/>
              <a:t>Windows, </a:t>
            </a:r>
            <a:r>
              <a:rPr lang="en-US" sz="1900" dirty="0" err="1"/>
              <a:t>macOS</a:t>
            </a:r>
            <a:r>
              <a:rPr lang="en-US" sz="1900" dirty="0"/>
              <a:t>, or Linux (for development and deployment). </a:t>
            </a:r>
          </a:p>
          <a:p>
            <a:r>
              <a:rPr lang="en-US" sz="1900" b="1" dirty="0"/>
              <a:t>Programming Languages: </a:t>
            </a:r>
            <a:r>
              <a:rPr lang="en-US" sz="1900" dirty="0"/>
              <a:t>JavaScript (for frontend and backend development using Node.js). </a:t>
            </a:r>
          </a:p>
          <a:p>
            <a:r>
              <a:rPr lang="en-US" sz="1900" dirty="0"/>
              <a:t>Frameworks and Libraries:</a:t>
            </a:r>
          </a:p>
          <a:p>
            <a:pPr>
              <a:buFont typeface="Courier New" panose="02070309020205020404" pitchFamily="49" charset="0"/>
              <a:buChar char="o"/>
            </a:pPr>
            <a:r>
              <a:rPr lang="en-US" sz="1900" dirty="0"/>
              <a:t> </a:t>
            </a:r>
            <a:r>
              <a:rPr lang="en-US" sz="1900" b="1" dirty="0"/>
              <a:t>Frontend: </a:t>
            </a:r>
            <a:r>
              <a:rPr lang="en-US" sz="1900" dirty="0"/>
              <a:t>HTML, CSS, JavaScript </a:t>
            </a:r>
          </a:p>
          <a:p>
            <a:pPr>
              <a:buFont typeface="Courier New" panose="02070309020205020404" pitchFamily="49" charset="0"/>
              <a:buChar char="o"/>
            </a:pPr>
            <a:r>
              <a:rPr lang="en-IN" sz="1900" b="1" dirty="0"/>
              <a:t>Backend: </a:t>
            </a:r>
            <a:r>
              <a:rPr lang="en-IN" sz="1900" dirty="0"/>
              <a:t>Node.js, Express.js </a:t>
            </a:r>
          </a:p>
          <a:p>
            <a:r>
              <a:rPr lang="en-US" sz="1900" b="1" dirty="0"/>
              <a:t>Database Management: </a:t>
            </a:r>
            <a:r>
              <a:rPr lang="en-US" sz="1900" dirty="0"/>
              <a:t>MySQL (for storing and managing event-related data) </a:t>
            </a:r>
            <a:endParaRPr lang="en-IN" sz="1900" dirty="0"/>
          </a:p>
          <a:p>
            <a:r>
              <a:rPr lang="en-US" sz="1900" dirty="0"/>
              <a:t>Development Tools: </a:t>
            </a:r>
            <a:r>
              <a:rPr lang="en-US" sz="1900" b="1" dirty="0"/>
              <a:t>Code Editor: </a:t>
            </a:r>
            <a:r>
              <a:rPr lang="en-US" sz="1900" dirty="0"/>
              <a:t>Visual Studio Code, Sublime Text, or any other preferred code editor. </a:t>
            </a:r>
          </a:p>
          <a:p>
            <a:r>
              <a:rPr lang="en-US" sz="1900" b="1" dirty="0"/>
              <a:t>Version Control: </a:t>
            </a:r>
            <a:r>
              <a:rPr lang="en-US" sz="1900" dirty="0" err="1"/>
              <a:t>Git</a:t>
            </a:r>
            <a:r>
              <a:rPr lang="en-US" sz="1900" dirty="0"/>
              <a:t>/GitHub for version control and collaboration. </a:t>
            </a:r>
            <a:endParaRPr lang="en-IN" sz="1900" dirty="0"/>
          </a:p>
          <a:p>
            <a:r>
              <a:rPr lang="en-US" sz="1900" dirty="0"/>
              <a:t>Testing Tools: </a:t>
            </a:r>
            <a:r>
              <a:rPr lang="en-US" sz="1900" b="1" dirty="0"/>
              <a:t>Postman: </a:t>
            </a:r>
            <a:r>
              <a:rPr lang="en-US" sz="1900" dirty="0"/>
              <a:t>For API testing and development. </a:t>
            </a:r>
            <a:endParaRPr lang="en-IN" sz="1900" dirty="0"/>
          </a:p>
          <a:p>
            <a:r>
              <a:rPr lang="en-US" sz="1900" b="1" dirty="0"/>
              <a:t>Browser: </a:t>
            </a:r>
            <a:r>
              <a:rPr lang="en-US" sz="1900" dirty="0"/>
              <a:t>Chrome, Firefox, or Edge (for testing and using the web application). </a:t>
            </a:r>
            <a:endParaRPr lang="en-US"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16</a:t>
            </a:fld>
            <a:endParaRPr lang="en-US"/>
          </a:p>
        </p:txBody>
      </p:sp>
    </p:spTree>
    <p:extLst>
      <p:ext uri="{BB962C8B-B14F-4D97-AF65-F5344CB8AC3E}">
        <p14:creationId xmlns:p14="http://schemas.microsoft.com/office/powerpoint/2010/main" val="1764159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pPr algn="ctr"/>
            <a:r>
              <a:rPr lang="en-US" dirty="0"/>
              <a:t>Project Timeline </a:t>
            </a:r>
            <a:endParaRPr lang="en-IN" dirty="0"/>
          </a:p>
        </p:txBody>
      </p:sp>
      <p:sp>
        <p:nvSpPr>
          <p:cNvPr id="3" name="Content Placeholder 2"/>
          <p:cNvSpPr>
            <a:spLocks noGrp="1"/>
          </p:cNvSpPr>
          <p:nvPr>
            <p:ph idx="1"/>
          </p:nvPr>
        </p:nvSpPr>
        <p:spPr>
          <a:xfrm>
            <a:off x="838200" y="1280160"/>
            <a:ext cx="10515600" cy="4896803"/>
          </a:xfrm>
        </p:spPr>
        <p:txBody>
          <a:bodyPr>
            <a:normAutofit/>
          </a:bodyPr>
          <a:lstStyle/>
          <a:p>
            <a:pPr marL="0" indent="0">
              <a:buNone/>
            </a:pPr>
            <a:endParaRPr lang="en-US" sz="1800" b="1" dirty="0"/>
          </a:p>
          <a:p>
            <a:pPr marL="0" indent="0">
              <a:buNone/>
            </a:pPr>
            <a:r>
              <a:rPr lang="en-US" sz="1800" b="1" dirty="0"/>
              <a:t>Requirement Gathering (1 Week)</a:t>
            </a:r>
            <a:r>
              <a:rPr lang="en-US" sz="1800" dirty="0"/>
              <a:t>: </a:t>
            </a:r>
          </a:p>
          <a:p>
            <a:r>
              <a:rPr lang="en-US" sz="1800" dirty="0"/>
              <a:t>Collected stakeholder feedback and defined system features and roles.</a:t>
            </a:r>
          </a:p>
          <a:p>
            <a:pPr marL="0" indent="0">
              <a:buNone/>
            </a:pPr>
            <a:r>
              <a:rPr lang="en-US" sz="1800" b="1" dirty="0"/>
              <a:t>System Design (2 Weeks)</a:t>
            </a:r>
            <a:r>
              <a:rPr lang="en-US" sz="1800" dirty="0"/>
              <a:t>: </a:t>
            </a:r>
          </a:p>
          <a:p>
            <a:r>
              <a:rPr lang="en-US" sz="1800" dirty="0"/>
              <a:t>Designed UI, system architecture, database schema, and use case diagrams.</a:t>
            </a:r>
          </a:p>
          <a:p>
            <a:pPr marL="0" indent="0">
              <a:buNone/>
            </a:pPr>
            <a:r>
              <a:rPr lang="en-US" sz="1800" b="1" dirty="0"/>
              <a:t>Implementation (3 Weeks)</a:t>
            </a:r>
            <a:r>
              <a:rPr lang="en-US" sz="1800" dirty="0"/>
              <a:t>: </a:t>
            </a:r>
          </a:p>
          <a:p>
            <a:r>
              <a:rPr lang="en-US" sz="1800" dirty="0"/>
              <a:t>Developed frontend, backend, and database integration with core features.</a:t>
            </a:r>
          </a:p>
          <a:p>
            <a:pPr marL="0" indent="0">
              <a:buNone/>
            </a:pPr>
            <a:r>
              <a:rPr lang="en-US" sz="1800" b="1" dirty="0"/>
              <a:t>Testing (1 Week)</a:t>
            </a:r>
            <a:r>
              <a:rPr lang="en-US" sz="1800" dirty="0"/>
              <a:t>:</a:t>
            </a:r>
          </a:p>
          <a:p>
            <a:r>
              <a:rPr lang="en-US" sz="1800" dirty="0"/>
              <a:t> Validated functionality, security, and performance through comprehensive testing.</a:t>
            </a:r>
          </a:p>
          <a:p>
            <a:pPr marL="0" indent="0">
              <a:buNone/>
            </a:pPr>
            <a:r>
              <a:rPr lang="en-US" sz="1800" b="1" dirty="0"/>
              <a:t>Deployment (1 Week)</a:t>
            </a:r>
            <a:r>
              <a:rPr lang="en-US" sz="1800" dirty="0"/>
              <a:t>: </a:t>
            </a:r>
          </a:p>
          <a:p>
            <a:r>
              <a:rPr lang="en-US" sz="1800" dirty="0"/>
              <a:t>Deployed the system for real-world use.</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17</a:t>
            </a:fld>
            <a:endParaRPr lang="en-US"/>
          </a:p>
        </p:txBody>
      </p:sp>
    </p:spTree>
    <p:extLst>
      <p:ext uri="{BB962C8B-B14F-4D97-AF65-F5344CB8AC3E}">
        <p14:creationId xmlns:p14="http://schemas.microsoft.com/office/powerpoint/2010/main" val="406722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pPr algn="ctr"/>
            <a:r>
              <a:rPr lang="en-US" dirty="0"/>
              <a:t>System Features</a:t>
            </a:r>
            <a:endParaRPr lang="en-IN" dirty="0"/>
          </a:p>
        </p:txBody>
      </p:sp>
      <p:sp>
        <p:nvSpPr>
          <p:cNvPr id="3" name="Content Placeholder 2"/>
          <p:cNvSpPr>
            <a:spLocks noGrp="1"/>
          </p:cNvSpPr>
          <p:nvPr>
            <p:ph idx="1"/>
          </p:nvPr>
        </p:nvSpPr>
        <p:spPr>
          <a:xfrm>
            <a:off x="838200" y="1280160"/>
            <a:ext cx="10515600" cy="4896803"/>
          </a:xfrm>
        </p:spPr>
        <p:txBody>
          <a:bodyPr>
            <a:normAutofit/>
          </a:bodyPr>
          <a:lstStyle/>
          <a:p>
            <a:pPr marL="0" indent="0">
              <a:buNone/>
            </a:pPr>
            <a:endParaRPr lang="en-US" sz="1800" b="1" dirty="0"/>
          </a:p>
          <a:p>
            <a:pPr marL="0" indent="0">
              <a:buNone/>
            </a:pPr>
            <a:r>
              <a:rPr lang="en-IN" sz="1800" b="1" dirty="0"/>
              <a:t>1. Student Page</a:t>
            </a:r>
            <a:r>
              <a:rPr lang="en-IN" sz="1800" dirty="0"/>
              <a:t>:</a:t>
            </a:r>
            <a:endParaRPr lang="en-US" sz="1800" dirty="0"/>
          </a:p>
          <a:p>
            <a:pPr lvl="1"/>
            <a:r>
              <a:rPr lang="en-US" sz="1800" dirty="0"/>
              <a:t>Seamless event registration.</a:t>
            </a:r>
          </a:p>
          <a:p>
            <a:pPr lvl="1"/>
            <a:r>
              <a:rPr lang="en-US" sz="1800" dirty="0"/>
              <a:t>Notifications about event updates via mail.</a:t>
            </a:r>
          </a:p>
          <a:p>
            <a:pPr marL="0" indent="0">
              <a:buNone/>
            </a:pPr>
            <a:r>
              <a:rPr lang="en-US" sz="1800" b="1" dirty="0"/>
              <a:t>2. Faculty Page</a:t>
            </a:r>
            <a:r>
              <a:rPr lang="en-US" sz="1800" dirty="0"/>
              <a:t>:</a:t>
            </a:r>
          </a:p>
          <a:p>
            <a:pPr lvl="1"/>
            <a:r>
              <a:rPr lang="en-US" sz="1800" dirty="0"/>
              <a:t>Ability to communicate with students.</a:t>
            </a:r>
          </a:p>
          <a:p>
            <a:pPr lvl="1"/>
            <a:r>
              <a:rPr lang="en-US" sz="1800" dirty="0"/>
              <a:t>Restricted to managing assigned events.</a:t>
            </a:r>
          </a:p>
          <a:p>
            <a:pPr marL="0" indent="0">
              <a:buNone/>
            </a:pPr>
            <a:r>
              <a:rPr lang="en-US" sz="1800" b="1" dirty="0"/>
              <a:t>3. Admin Faculty Page</a:t>
            </a:r>
            <a:r>
              <a:rPr lang="en-US" sz="1800" dirty="0"/>
              <a:t>:</a:t>
            </a:r>
          </a:p>
          <a:p>
            <a:pPr lvl="1"/>
            <a:r>
              <a:rPr lang="en-US" sz="1800" dirty="0"/>
              <a:t>Oversee all events and users.</a:t>
            </a:r>
          </a:p>
          <a:p>
            <a:pPr lvl="1"/>
            <a:r>
              <a:rPr lang="en-US" sz="1800" dirty="0"/>
              <a:t>Approve, deny, and assign event responsibilities.</a:t>
            </a:r>
          </a:p>
          <a:p>
            <a:pPr marL="0" indent="0">
              <a:buNone/>
            </a:pPr>
            <a:r>
              <a:rPr lang="en-US" sz="1800" b="1" dirty="0"/>
              <a:t>4. Event Organizer Page</a:t>
            </a:r>
            <a:r>
              <a:rPr lang="en-US" sz="1800" dirty="0"/>
              <a:t>:</a:t>
            </a:r>
          </a:p>
          <a:p>
            <a:pPr lvl="1"/>
            <a:r>
              <a:rPr lang="en-US" sz="1800" dirty="0"/>
              <a:t>Full control over event creation, modification, and participant data.</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18</a:t>
            </a:fld>
            <a:endParaRPr lang="en-US"/>
          </a:p>
        </p:txBody>
      </p:sp>
    </p:spTree>
    <p:extLst>
      <p:ext uri="{BB962C8B-B14F-4D97-AF65-F5344CB8AC3E}">
        <p14:creationId xmlns:p14="http://schemas.microsoft.com/office/powerpoint/2010/main" val="1207240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0207"/>
          </a:xfrm>
        </p:spPr>
        <p:txBody>
          <a:bodyPr>
            <a:normAutofit/>
          </a:bodyPr>
          <a:lstStyle/>
          <a:p>
            <a:pPr algn="ctr"/>
            <a:r>
              <a:rPr lang="en-US" dirty="0"/>
              <a:t>    System Architecture</a:t>
            </a:r>
          </a:p>
        </p:txBody>
      </p:sp>
      <p:sp>
        <p:nvSpPr>
          <p:cNvPr id="3" name="Content Placeholder 2"/>
          <p:cNvSpPr>
            <a:spLocks noGrp="1"/>
          </p:cNvSpPr>
          <p:nvPr>
            <p:ph idx="1"/>
          </p:nvPr>
        </p:nvSpPr>
        <p:spPr>
          <a:xfrm>
            <a:off x="445770" y="1825625"/>
            <a:ext cx="10908030" cy="4351655"/>
          </a:xfrm>
        </p:spPr>
        <p:txBody>
          <a:bodyPr>
            <a:normAutofit/>
          </a:bodyPr>
          <a:lstStyle/>
          <a:p>
            <a:pPr marL="0" indent="0">
              <a:buNone/>
            </a:pPr>
            <a:r>
              <a:rPr lang="en-US" dirty="0"/>
              <a:t> </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19</a:t>
            </a:fld>
            <a:endParaRPr lang="en-US"/>
          </a:p>
        </p:txBody>
      </p:sp>
      <p:pic>
        <p:nvPicPr>
          <p:cNvPr id="7" name="Google Shape;195;p22"/>
          <p:cNvPicPr preferRelativeResize="0"/>
          <p:nvPr/>
        </p:nvPicPr>
        <p:blipFill rotWithShape="1">
          <a:blip r:embed="rId2">
            <a:alphaModFix/>
          </a:blip>
          <a:srcRect/>
          <a:stretch/>
        </p:blipFill>
        <p:spPr>
          <a:xfrm>
            <a:off x="1637968" y="1603111"/>
            <a:ext cx="9083040" cy="45008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2121"/>
          </a:xfrm>
        </p:spPr>
        <p:txBody>
          <a:bodyPr/>
          <a:lstStyle/>
          <a:p>
            <a:pPr algn="ctr"/>
            <a:r>
              <a:rPr lang="en-IN" dirty="0"/>
              <a:t>Sequence Diagram</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5318" y="1428750"/>
            <a:ext cx="7281364" cy="4748213"/>
          </a:xfrm>
        </p:spPr>
      </p:pic>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20</a:t>
            </a:fld>
            <a:endParaRPr lang="en-US"/>
          </a:p>
        </p:txBody>
      </p:sp>
    </p:spTree>
    <p:extLst>
      <p:ext uri="{BB962C8B-B14F-4D97-AF65-F5344CB8AC3E}">
        <p14:creationId xmlns:p14="http://schemas.microsoft.com/office/powerpoint/2010/main" val="3612992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304"/>
          </a:xfrm>
        </p:spPr>
        <p:txBody>
          <a:bodyPr/>
          <a:lstStyle/>
          <a:p>
            <a:pPr algn="ctr"/>
            <a:r>
              <a:rPr lang="en-IN" dirty="0"/>
              <a:t>Component Diagram</a:t>
            </a:r>
          </a:p>
        </p:txBody>
      </p:sp>
      <p:sp>
        <p:nvSpPr>
          <p:cNvPr id="3" name="Content Placeholder 2"/>
          <p:cNvSpPr>
            <a:spLocks noGrp="1"/>
          </p:cNvSpPr>
          <p:nvPr>
            <p:ph idx="1"/>
          </p:nvPr>
        </p:nvSpPr>
        <p:spPr>
          <a:xfrm>
            <a:off x="936171" y="3853543"/>
            <a:ext cx="10417629" cy="2502808"/>
          </a:xfrm>
        </p:spPr>
        <p:txBody>
          <a:bodyPr>
            <a:normAutofit lnSpcReduction="10000"/>
          </a:bodyPr>
          <a:lstStyle/>
          <a:p>
            <a:pPr marL="0" indent="0">
              <a:buNone/>
            </a:pPr>
            <a:r>
              <a:rPr lang="en-IN" sz="1800" dirty="0"/>
              <a:t>The </a:t>
            </a:r>
            <a:r>
              <a:rPr lang="en-IN" sz="1800" b="1" dirty="0"/>
              <a:t>Component Diagram</a:t>
            </a:r>
            <a:r>
              <a:rPr lang="en-IN" sz="1800" dirty="0"/>
              <a:t> illustrates how the major components of the Event Management System interact:</a:t>
            </a:r>
          </a:p>
          <a:p>
            <a:pPr marL="0" indent="0">
              <a:buNone/>
            </a:pPr>
            <a:endParaRPr lang="en-IN" sz="1800" dirty="0"/>
          </a:p>
          <a:p>
            <a:pPr lvl="0"/>
            <a:r>
              <a:rPr lang="en-IN" sz="1800" b="1" dirty="0"/>
              <a:t>User Interface (UI)</a:t>
            </a:r>
            <a:r>
              <a:rPr lang="en-IN" sz="1800" dirty="0"/>
              <a:t>: The front-end where users (students, faculty, event organizers, admin faculty) interact with the system, built using HTML, CSS, and JavaScript.</a:t>
            </a:r>
          </a:p>
          <a:p>
            <a:pPr lvl="0"/>
            <a:r>
              <a:rPr lang="en-IN" sz="1800" b="1" dirty="0"/>
              <a:t>Backend Server</a:t>
            </a:r>
            <a:r>
              <a:rPr lang="en-IN" sz="1800" dirty="0"/>
              <a:t>: Handles requests from the UI, processes data, and communicates with the database, built using Express.js and Node.js.</a:t>
            </a:r>
          </a:p>
          <a:p>
            <a:pPr lvl="0"/>
            <a:r>
              <a:rPr lang="en-IN" sz="1800" b="1" dirty="0"/>
              <a:t>Database</a:t>
            </a:r>
            <a:r>
              <a:rPr lang="en-IN" sz="1800" dirty="0"/>
              <a:t>: Stores all data (user details, event info, registrations) in MySQL, ensuring data persistence and accessibility.</a:t>
            </a:r>
          </a:p>
          <a:p>
            <a:pPr marL="0" lvl="0" indent="0">
              <a:buNone/>
            </a:pPr>
            <a:endParaRPr lang="en-IN" sz="18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21</a:t>
            </a:fld>
            <a:endParaRPr lang="en-US"/>
          </a:p>
        </p:txBody>
      </p:sp>
      <p:pic>
        <p:nvPicPr>
          <p:cNvPr id="8" name="Picture 7" descr="C:\Users\Asus\AppData\Local\Microsoft\Windows\INetCache\IE\2T3C1S89\6. Component Diagram[1].png"/>
          <p:cNvPicPr/>
          <p:nvPr/>
        </p:nvPicPr>
        <p:blipFill>
          <a:blip r:embed="rId2">
            <a:extLst>
              <a:ext uri="{28A0092B-C50C-407E-A947-70E740481C1C}">
                <a14:useLocalDpi xmlns:a14="http://schemas.microsoft.com/office/drawing/2010/main" val="0"/>
              </a:ext>
            </a:extLst>
          </a:blip>
          <a:srcRect/>
          <a:stretch>
            <a:fillRect/>
          </a:stretch>
        </p:blipFill>
        <p:spPr bwMode="auto">
          <a:xfrm>
            <a:off x="642257" y="1339172"/>
            <a:ext cx="11092543" cy="2166027"/>
          </a:xfrm>
          <a:prstGeom prst="rect">
            <a:avLst/>
          </a:prstGeom>
          <a:noFill/>
          <a:ln>
            <a:noFill/>
          </a:ln>
        </p:spPr>
      </p:pic>
    </p:spTree>
    <p:extLst>
      <p:ext uri="{BB962C8B-B14F-4D97-AF65-F5344CB8AC3E}">
        <p14:creationId xmlns:p14="http://schemas.microsoft.com/office/powerpoint/2010/main" val="797700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81113"/>
          </a:xfrm>
        </p:spPr>
        <p:txBody>
          <a:bodyPr>
            <a:normAutofit fontScale="90000"/>
          </a:bodyPr>
          <a:lstStyle/>
          <a:p>
            <a:pPr algn="ctr"/>
            <a:r>
              <a:rPr lang="en-IN" dirty="0"/>
              <a:t>DFDs</a:t>
            </a:r>
            <a:br>
              <a:rPr lang="en-IN" dirty="0"/>
            </a:br>
            <a:endParaRPr lang="en-IN" dirty="0"/>
          </a:p>
        </p:txBody>
      </p:sp>
      <p:pic>
        <p:nvPicPr>
          <p:cNvPr id="6" name="Content Placeholder 5"/>
          <p:cNvPicPr>
            <a:picLocks noGrp="1" noChangeAspect="1"/>
          </p:cNvPicPr>
          <p:nvPr>
            <p:ph idx="1"/>
          </p:nvPr>
        </p:nvPicPr>
        <p:blipFill>
          <a:blip r:embed="rId2"/>
          <a:stretch>
            <a:fillRect/>
          </a:stretch>
        </p:blipFill>
        <p:spPr>
          <a:xfrm>
            <a:off x="1270928" y="1492250"/>
            <a:ext cx="9650144" cy="4351338"/>
          </a:xfrm>
          <a:prstGeom prst="rect">
            <a:avLst/>
          </a:prstGeom>
        </p:spPr>
      </p:pic>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22</a:t>
            </a:fld>
            <a:endParaRPr lang="en-US"/>
          </a:p>
        </p:txBody>
      </p:sp>
    </p:spTree>
    <p:extLst>
      <p:ext uri="{BB962C8B-B14F-4D97-AF65-F5344CB8AC3E}">
        <p14:creationId xmlns:p14="http://schemas.microsoft.com/office/powerpoint/2010/main" val="464998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304"/>
          </a:xfrm>
        </p:spPr>
        <p:txBody>
          <a:bodyPr/>
          <a:lstStyle/>
          <a:p>
            <a:pPr algn="ctr"/>
            <a:r>
              <a:rPr lang="en-IN" dirty="0"/>
              <a:t>Use Case Diagram</a:t>
            </a:r>
          </a:p>
        </p:txBody>
      </p:sp>
      <p:sp>
        <p:nvSpPr>
          <p:cNvPr id="3" name="Content Placeholder 2"/>
          <p:cNvSpPr>
            <a:spLocks noGrp="1"/>
          </p:cNvSpPr>
          <p:nvPr>
            <p:ph idx="1"/>
          </p:nvPr>
        </p:nvSpPr>
        <p:spPr>
          <a:xfrm>
            <a:off x="838200" y="3875315"/>
            <a:ext cx="10668000" cy="2351314"/>
          </a:xfrm>
        </p:spPr>
        <p:txBody>
          <a:bodyPr>
            <a:normAutofit/>
          </a:bodyPr>
          <a:lstStyle/>
          <a:p>
            <a:pPr marL="0" indent="0">
              <a:buNone/>
            </a:pPr>
            <a:r>
              <a:rPr lang="en-US" sz="1800" b="1" dirty="0"/>
              <a:t>Key Actors and Their Roles</a:t>
            </a:r>
            <a:endParaRPr lang="en-US" sz="1800" dirty="0"/>
          </a:p>
          <a:p>
            <a:r>
              <a:rPr lang="en-US" sz="1800" b="1" dirty="0"/>
              <a:t>Admin Faculty</a:t>
            </a:r>
            <a:r>
              <a:rPr lang="en-US" sz="1800" dirty="0"/>
              <a:t>: Manage event approvals, assign faculty, edit, and delete events.</a:t>
            </a:r>
          </a:p>
          <a:p>
            <a:r>
              <a:rPr lang="en-US" sz="1800" b="1" dirty="0"/>
              <a:t>Faculty</a:t>
            </a:r>
            <a:r>
              <a:rPr lang="en-US" sz="1800" dirty="0"/>
              <a:t>: Notify students, register for events, and view event details.</a:t>
            </a:r>
          </a:p>
          <a:p>
            <a:r>
              <a:rPr lang="en-US" sz="1800" b="1" dirty="0"/>
              <a:t>Event Organizers</a:t>
            </a:r>
            <a:r>
              <a:rPr lang="en-US" sz="1800" dirty="0"/>
              <a:t>: Create, edit, delete events, and access participant data.</a:t>
            </a:r>
          </a:p>
          <a:p>
            <a:r>
              <a:rPr lang="en-US" sz="1800" b="1" dirty="0"/>
              <a:t>Students</a:t>
            </a:r>
            <a:r>
              <a:rPr lang="en-US" sz="1800" dirty="0"/>
              <a:t>: Register for events, view details, and receive notifications.</a:t>
            </a:r>
          </a:p>
          <a:p>
            <a:pPr marL="0" lvl="0" indent="0">
              <a:buNone/>
            </a:pPr>
            <a:endParaRPr lang="en-IN" sz="14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628" y="1197430"/>
            <a:ext cx="10994572" cy="1847850"/>
          </a:xfrm>
          <a:prstGeom prst="rect">
            <a:avLst/>
          </a:prstGeom>
        </p:spPr>
      </p:pic>
    </p:spTree>
    <p:extLst>
      <p:ext uri="{BB962C8B-B14F-4D97-AF65-F5344CB8AC3E}">
        <p14:creationId xmlns:p14="http://schemas.microsoft.com/office/powerpoint/2010/main" val="3127600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304"/>
          </a:xfrm>
        </p:spPr>
        <p:txBody>
          <a:bodyPr/>
          <a:lstStyle/>
          <a:p>
            <a:pPr algn="ctr"/>
            <a:r>
              <a:rPr lang="en-IN" dirty="0"/>
              <a:t>Class Diagram</a:t>
            </a:r>
          </a:p>
        </p:txBody>
      </p:sp>
      <p:sp>
        <p:nvSpPr>
          <p:cNvPr id="3" name="Content Placeholder 2"/>
          <p:cNvSpPr>
            <a:spLocks noGrp="1"/>
          </p:cNvSpPr>
          <p:nvPr>
            <p:ph idx="1"/>
          </p:nvPr>
        </p:nvSpPr>
        <p:spPr>
          <a:xfrm>
            <a:off x="838200" y="1491343"/>
            <a:ext cx="7173686" cy="4735286"/>
          </a:xfrm>
        </p:spPr>
        <p:txBody>
          <a:bodyPr>
            <a:normAutofit/>
          </a:bodyPr>
          <a:lstStyle/>
          <a:p>
            <a:pPr marL="0" lvl="0" indent="0">
              <a:buNone/>
            </a:pPr>
            <a:r>
              <a:rPr lang="en-IN" sz="1800" b="1" dirty="0"/>
              <a:t>User: </a:t>
            </a:r>
            <a:r>
              <a:rPr lang="en-IN" sz="1800" dirty="0"/>
              <a:t>Attributes include name, email, password, and category. Methods: login(), register(), </a:t>
            </a:r>
            <a:r>
              <a:rPr lang="en-IN" sz="1800" dirty="0" err="1"/>
              <a:t>sendEmail</a:t>
            </a:r>
            <a:r>
              <a:rPr lang="en-IN" sz="1800" dirty="0"/>
              <a:t>().</a:t>
            </a:r>
          </a:p>
          <a:p>
            <a:pPr marL="0" lvl="0" indent="0">
              <a:buNone/>
            </a:pPr>
            <a:endParaRPr lang="en-IN" sz="1800" dirty="0"/>
          </a:p>
          <a:p>
            <a:pPr marL="0" lvl="0" indent="0">
              <a:buNone/>
            </a:pPr>
            <a:r>
              <a:rPr lang="en-IN" sz="1800" b="1" dirty="0"/>
              <a:t>Event: </a:t>
            </a:r>
            <a:r>
              <a:rPr lang="en-IN" sz="1800" dirty="0"/>
              <a:t>Attributes include name, dates, location, and status. Methods: </a:t>
            </a:r>
            <a:r>
              <a:rPr lang="en-IN" sz="1800" dirty="0" err="1"/>
              <a:t>createEvent</a:t>
            </a:r>
            <a:r>
              <a:rPr lang="en-IN" sz="1800" dirty="0"/>
              <a:t>(), </a:t>
            </a:r>
            <a:r>
              <a:rPr lang="en-IN" sz="1800" dirty="0" err="1"/>
              <a:t>updateEvent</a:t>
            </a:r>
            <a:r>
              <a:rPr lang="en-IN" sz="1800" dirty="0"/>
              <a:t>(), </a:t>
            </a:r>
            <a:r>
              <a:rPr lang="en-IN" sz="1800" dirty="0" err="1"/>
              <a:t>cancelEvent</a:t>
            </a:r>
            <a:r>
              <a:rPr lang="en-IN" sz="1800" dirty="0"/>
              <a:t>().</a:t>
            </a:r>
          </a:p>
          <a:p>
            <a:pPr marL="0" lvl="0" indent="0">
              <a:buNone/>
            </a:pPr>
            <a:endParaRPr lang="en-IN" sz="1800" dirty="0"/>
          </a:p>
          <a:p>
            <a:pPr marL="0" lvl="0" indent="0">
              <a:buNone/>
            </a:pPr>
            <a:r>
              <a:rPr lang="en-IN" sz="1800" b="1" dirty="0"/>
              <a:t>Registration: </a:t>
            </a:r>
            <a:r>
              <a:rPr lang="en-IN" sz="1800" dirty="0"/>
              <a:t>Attributes include registration date, student name, email, event ID, and event name. Methods: </a:t>
            </a:r>
            <a:r>
              <a:rPr lang="en-IN" sz="1800" dirty="0" err="1"/>
              <a:t>registerUser</a:t>
            </a:r>
            <a:r>
              <a:rPr lang="en-IN" sz="1800" dirty="0"/>
              <a:t>(), </a:t>
            </a:r>
            <a:r>
              <a:rPr lang="en-IN" sz="1800" dirty="0" err="1"/>
              <a:t>sendConfirmation</a:t>
            </a:r>
            <a:r>
              <a:rPr lang="en-IN" sz="1800" dirty="0"/>
              <a:t>().</a:t>
            </a:r>
          </a:p>
          <a:p>
            <a:pPr marL="0" lvl="0" indent="0">
              <a:buNone/>
            </a:pPr>
            <a:endParaRPr lang="en-IN" sz="1800" b="1" dirty="0"/>
          </a:p>
          <a:p>
            <a:pPr marL="0" lvl="0" indent="0">
              <a:buNone/>
            </a:pPr>
            <a:r>
              <a:rPr lang="en-IN" sz="1800" b="1" dirty="0"/>
              <a:t>Relationships: </a:t>
            </a:r>
          </a:p>
          <a:p>
            <a:r>
              <a:rPr lang="en-IN" sz="1800" dirty="0"/>
              <a:t>A User can have multiple Registrations.</a:t>
            </a:r>
          </a:p>
          <a:p>
            <a:r>
              <a:rPr lang="en-IN" sz="1800" dirty="0"/>
              <a:t>An Event can have multiple Registrations.</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1886" y="1491342"/>
            <a:ext cx="4108676" cy="4735287"/>
          </a:xfrm>
          <a:prstGeom prst="rect">
            <a:avLst/>
          </a:prstGeom>
        </p:spPr>
      </p:pic>
    </p:spTree>
    <p:extLst>
      <p:ext uri="{BB962C8B-B14F-4D97-AF65-F5344CB8AC3E}">
        <p14:creationId xmlns:p14="http://schemas.microsoft.com/office/powerpoint/2010/main" val="3671478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6597"/>
          </a:xfrm>
        </p:spPr>
        <p:txBody>
          <a:bodyPr>
            <a:normAutofit fontScale="90000"/>
          </a:bodyPr>
          <a:lstStyle/>
          <a:p>
            <a:pPr algn="ctr"/>
            <a:br>
              <a:rPr lang="en-IN" dirty="0"/>
            </a:br>
            <a:r>
              <a:rPr lang="en-IN" dirty="0"/>
              <a:t>Workflow Diagram</a:t>
            </a:r>
            <a:br>
              <a:rPr lang="en-IN" dirty="0"/>
            </a:br>
            <a:endParaRPr lang="en-IN"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25</a:t>
            </a:fld>
            <a:endParaRPr lang="en-US"/>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34886" y="1351722"/>
            <a:ext cx="9514114" cy="4918449"/>
          </a:xfrm>
        </p:spPr>
      </p:pic>
    </p:spTree>
    <p:extLst>
      <p:ext uri="{BB962C8B-B14F-4D97-AF65-F5344CB8AC3E}">
        <p14:creationId xmlns:p14="http://schemas.microsoft.com/office/powerpoint/2010/main" val="1862036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361"/>
          </a:xfrm>
        </p:spPr>
        <p:txBody>
          <a:bodyPr>
            <a:normAutofit/>
          </a:bodyPr>
          <a:lstStyle/>
          <a:p>
            <a:pPr algn="ctr"/>
            <a:r>
              <a:rPr lang="en-IN" sz="3600" dirty="0"/>
              <a:t>Activity Diagram(Event Approval Process)</a:t>
            </a:r>
          </a:p>
        </p:txBody>
      </p:sp>
      <p:sp>
        <p:nvSpPr>
          <p:cNvPr id="3" name="Content Placeholder 2"/>
          <p:cNvSpPr>
            <a:spLocks noGrp="1"/>
          </p:cNvSpPr>
          <p:nvPr>
            <p:ph idx="1"/>
          </p:nvPr>
        </p:nvSpPr>
        <p:spPr>
          <a:xfrm>
            <a:off x="838200" y="1534886"/>
            <a:ext cx="6803571" cy="4642077"/>
          </a:xfrm>
        </p:spPr>
        <p:txBody>
          <a:bodyPr>
            <a:normAutofit/>
          </a:bodyPr>
          <a:lstStyle/>
          <a:p>
            <a:pPr marL="0" indent="0">
              <a:buNone/>
            </a:pPr>
            <a:r>
              <a:rPr lang="en-US" sz="1800" b="1" dirty="0"/>
              <a:t>Purpose</a:t>
            </a:r>
            <a:br>
              <a:rPr lang="en-US" sz="1800" dirty="0"/>
            </a:br>
            <a:r>
              <a:rPr lang="en-US" sz="1800" dirty="0"/>
              <a:t>Illustrates the steps and decisions involved in the admin faculty's event approval process.</a:t>
            </a:r>
          </a:p>
          <a:p>
            <a:pPr marL="0" indent="0">
              <a:buNone/>
            </a:pPr>
            <a:r>
              <a:rPr lang="en-US" sz="1800" b="1" dirty="0"/>
              <a:t>Key Steps</a:t>
            </a:r>
            <a:endParaRPr lang="en-US" sz="1800" dirty="0"/>
          </a:p>
          <a:p>
            <a:r>
              <a:rPr lang="en-US" sz="1800" dirty="0"/>
              <a:t>Admin logs into the system and navigates to the event approval page.</a:t>
            </a:r>
          </a:p>
          <a:p>
            <a:r>
              <a:rPr lang="en-US" sz="1800" dirty="0"/>
              <a:t>Reviews event details like dates, location, and description.</a:t>
            </a:r>
          </a:p>
          <a:p>
            <a:r>
              <a:rPr lang="en-US" sz="1800" dirty="0"/>
              <a:t>Decision Point:</a:t>
            </a:r>
          </a:p>
          <a:p>
            <a:pPr lvl="1"/>
            <a:r>
              <a:rPr lang="en-US" sz="1600" dirty="0"/>
              <a:t>If correct: Approves the event, updating the status to "approved" in the database.</a:t>
            </a:r>
          </a:p>
          <a:p>
            <a:pPr lvl="1"/>
            <a:r>
              <a:rPr lang="en-US" sz="1600" dirty="0"/>
              <a:t>If incorrect: Rejects the event, marking it as "denied" or deleting it.</a:t>
            </a:r>
          </a:p>
          <a:p>
            <a:pPr marL="0" indent="0">
              <a:buNone/>
            </a:pPr>
            <a:r>
              <a:rPr lang="en-US" sz="1800" b="1" dirty="0"/>
              <a:t>Flow</a:t>
            </a:r>
            <a:br>
              <a:rPr lang="en-US" sz="1800" dirty="0"/>
            </a:br>
            <a:r>
              <a:rPr lang="en-US" sz="1800" dirty="0"/>
              <a:t>Highlights decision points and actions, ensuring clarity in the approval process.</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26</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1771" y="1534887"/>
            <a:ext cx="4178754" cy="4528456"/>
          </a:xfrm>
          <a:prstGeom prst="rect">
            <a:avLst/>
          </a:prstGeom>
        </p:spPr>
      </p:pic>
    </p:spTree>
    <p:extLst>
      <p:ext uri="{BB962C8B-B14F-4D97-AF65-F5344CB8AC3E}">
        <p14:creationId xmlns:p14="http://schemas.microsoft.com/office/powerpoint/2010/main" val="2484387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5995"/>
          </a:xfrm>
        </p:spPr>
        <p:txBody>
          <a:bodyPr>
            <a:normAutofit/>
          </a:bodyPr>
          <a:lstStyle/>
          <a:p>
            <a:pPr algn="ctr"/>
            <a:r>
              <a:rPr lang="en-IN" sz="4000" dirty="0"/>
              <a:t>ERD (Entity-Relationship Diagram)</a:t>
            </a:r>
          </a:p>
        </p:txBody>
      </p:sp>
      <p:sp>
        <p:nvSpPr>
          <p:cNvPr id="3" name="Content Placeholder 2"/>
          <p:cNvSpPr>
            <a:spLocks noGrp="1"/>
          </p:cNvSpPr>
          <p:nvPr>
            <p:ph idx="1"/>
          </p:nvPr>
        </p:nvSpPr>
        <p:spPr>
          <a:xfrm>
            <a:off x="0" y="1341120"/>
            <a:ext cx="7332617" cy="5015229"/>
          </a:xfrm>
        </p:spPr>
        <p:txBody>
          <a:bodyPr>
            <a:normAutofit fontScale="92500"/>
          </a:bodyPr>
          <a:lstStyle/>
          <a:p>
            <a:pPr marL="0" indent="0">
              <a:buNone/>
            </a:pPr>
            <a:r>
              <a:rPr lang="en-IN" sz="1400" dirty="0"/>
              <a:t>The ERD below illustrates the relationships between different entities within the EMS database, showing how the users, events, and registrations are connected.</a:t>
            </a:r>
          </a:p>
          <a:p>
            <a:pPr marL="0" indent="0">
              <a:buNone/>
            </a:pPr>
            <a:r>
              <a:rPr lang="en-IN" sz="1400" b="1" dirty="0"/>
              <a:t>Entities</a:t>
            </a:r>
            <a:r>
              <a:rPr lang="en-IN" sz="1400" dirty="0"/>
              <a:t>:</a:t>
            </a:r>
          </a:p>
          <a:p>
            <a:r>
              <a:rPr lang="en-US" sz="1400" b="1" dirty="0"/>
              <a:t>Events</a:t>
            </a:r>
            <a:r>
              <a:rPr lang="en-US" sz="1400" dirty="0"/>
              <a:t>: Stores event details such as name, date, location, and status.</a:t>
            </a:r>
          </a:p>
          <a:p>
            <a:r>
              <a:rPr lang="en-US" sz="1400" b="1" dirty="0"/>
              <a:t>Users</a:t>
            </a:r>
            <a:r>
              <a:rPr lang="en-US" sz="1400" dirty="0"/>
              <a:t>: Captures information about students, faculty, and organizers, including their roles and credentials.</a:t>
            </a:r>
          </a:p>
          <a:p>
            <a:r>
              <a:rPr lang="en-US" sz="1400" b="1" dirty="0"/>
              <a:t>Registrations</a:t>
            </a:r>
            <a:r>
              <a:rPr lang="en-US" sz="1400" dirty="0"/>
              <a:t>: Tracks event participation, including registration dates, </a:t>
            </a:r>
            <a:r>
              <a:rPr lang="en-US" sz="1400" dirty="0" err="1"/>
              <a:t>purpose,image</a:t>
            </a:r>
            <a:r>
              <a:rPr lang="en-US" sz="1400" dirty="0"/>
              <a:t>, and linked user information.</a:t>
            </a:r>
          </a:p>
          <a:p>
            <a:r>
              <a:rPr lang="en-US" sz="1400" b="1" dirty="0"/>
              <a:t>Faculty</a:t>
            </a:r>
            <a:r>
              <a:rPr lang="en-US" sz="1400" dirty="0"/>
              <a:t>: Manages faculty assignments for events.</a:t>
            </a:r>
          </a:p>
          <a:p>
            <a:r>
              <a:rPr lang="en-US" sz="1400" b="1" dirty="0"/>
              <a:t>Login Users</a:t>
            </a:r>
            <a:r>
              <a:rPr lang="en-US" sz="1400" dirty="0"/>
              <a:t>: Ensures secure authentication for system users.</a:t>
            </a:r>
          </a:p>
          <a:p>
            <a:pPr marL="0" indent="0">
              <a:buNone/>
            </a:pPr>
            <a:endParaRPr lang="en-US" sz="1400" dirty="0"/>
          </a:p>
          <a:p>
            <a:pPr marL="0" indent="0">
              <a:buNone/>
            </a:pPr>
            <a:r>
              <a:rPr lang="en-IN" sz="1400" b="1" dirty="0"/>
              <a:t>Relationships</a:t>
            </a:r>
            <a:r>
              <a:rPr lang="en-IN" sz="1400" dirty="0"/>
              <a:t>:</a:t>
            </a:r>
          </a:p>
          <a:p>
            <a:pPr marL="0" indent="0">
              <a:buNone/>
            </a:pPr>
            <a:r>
              <a:rPr lang="en-IN" sz="1400" dirty="0"/>
              <a:t>Login Users → Users:  </a:t>
            </a:r>
            <a:r>
              <a:rPr lang="en-US" sz="1400" dirty="0"/>
              <a:t>A one-to-one relationship exists between </a:t>
            </a:r>
            <a:r>
              <a:rPr lang="en-US" sz="1400" b="1" dirty="0" err="1"/>
              <a:t>login_users</a:t>
            </a:r>
            <a:r>
              <a:rPr lang="en-US" sz="1400" b="1" dirty="0"/>
              <a:t> </a:t>
            </a:r>
            <a:r>
              <a:rPr lang="en-US" sz="1400" dirty="0"/>
              <a:t>and </a:t>
            </a:r>
            <a:r>
              <a:rPr lang="en-US" sz="1400" b="1" dirty="0"/>
              <a:t>users</a:t>
            </a:r>
            <a:r>
              <a:rPr lang="en-US" sz="1400" dirty="0"/>
              <a:t>, as each user must have one unique login credential. </a:t>
            </a:r>
            <a:endParaRPr lang="en-IN" sz="1400" dirty="0"/>
          </a:p>
          <a:p>
            <a:pPr marL="0" indent="0">
              <a:buNone/>
            </a:pPr>
            <a:r>
              <a:rPr lang="en-US" sz="1400" dirty="0"/>
              <a:t>Users </a:t>
            </a:r>
            <a:r>
              <a:rPr lang="en-IN" sz="1400" dirty="0"/>
              <a:t>→ </a:t>
            </a:r>
            <a:r>
              <a:rPr lang="en-US" sz="1400" dirty="0"/>
              <a:t>Registrations: A one-to-many relationship exists, where each user can register for multiple events</a:t>
            </a:r>
          </a:p>
          <a:p>
            <a:pPr marL="0" indent="0">
              <a:buNone/>
            </a:pPr>
            <a:r>
              <a:rPr lang="en-US" sz="1400" dirty="0"/>
              <a:t>Events </a:t>
            </a:r>
            <a:r>
              <a:rPr lang="en-IN" sz="1400" dirty="0"/>
              <a:t>→</a:t>
            </a:r>
            <a:r>
              <a:rPr lang="en-US" sz="1400" dirty="0"/>
              <a:t> Registrations: A one-to-many relationship exists, where each event can have multiple registrants. </a:t>
            </a:r>
          </a:p>
          <a:p>
            <a:pPr marL="0" indent="0">
              <a:buNone/>
            </a:pPr>
            <a:r>
              <a:rPr lang="en-US" sz="1400" dirty="0"/>
              <a:t>Events </a:t>
            </a:r>
            <a:r>
              <a:rPr lang="en-IN" sz="1400" dirty="0"/>
              <a:t>→</a:t>
            </a:r>
            <a:r>
              <a:rPr lang="en-US" sz="1400" dirty="0"/>
              <a:t> Faculty: A many-to-one relationship exists, where multiple faculty members can be associated with a single event. </a:t>
            </a:r>
          </a:p>
          <a:p>
            <a:pPr marL="0" indent="0">
              <a:buNone/>
            </a:pPr>
            <a:endParaRPr lang="en-IN" sz="1400" dirty="0"/>
          </a:p>
          <a:p>
            <a:pPr marL="0" indent="0">
              <a:buNone/>
            </a:pPr>
            <a:endParaRPr lang="en-IN" sz="14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27</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5596" y="1245326"/>
            <a:ext cx="4837067" cy="4749301"/>
          </a:xfrm>
          <a:prstGeom prst="rect">
            <a:avLst/>
          </a:prstGeom>
        </p:spPr>
      </p:pic>
    </p:spTree>
    <p:extLst>
      <p:ext uri="{BB962C8B-B14F-4D97-AF65-F5344CB8AC3E}">
        <p14:creationId xmlns:p14="http://schemas.microsoft.com/office/powerpoint/2010/main" val="168681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9576"/>
            <a:ext cx="10876915" cy="830828"/>
          </a:xfrm>
        </p:spPr>
        <p:txBody>
          <a:bodyPr>
            <a:normAutofit/>
          </a:bodyPr>
          <a:lstStyle/>
          <a:p>
            <a:pPr algn="ctr"/>
            <a:r>
              <a:rPr lang="en-IN" sz="3600" dirty="0"/>
              <a:t>Database Design</a:t>
            </a:r>
            <a:endParaRPr lang="en-US" dirty="0"/>
          </a:p>
        </p:txBody>
      </p:sp>
      <p:sp>
        <p:nvSpPr>
          <p:cNvPr id="3" name="Content Placeholder 2"/>
          <p:cNvSpPr>
            <a:spLocks noGrp="1"/>
          </p:cNvSpPr>
          <p:nvPr>
            <p:ph idx="1"/>
          </p:nvPr>
        </p:nvSpPr>
        <p:spPr>
          <a:xfrm>
            <a:off x="234315" y="1552575"/>
            <a:ext cx="11119485" cy="4803775"/>
          </a:xfrm>
        </p:spPr>
        <p:txBody>
          <a:bodyPr>
            <a:normAutofit/>
          </a:bodyPr>
          <a:lstStyle/>
          <a:p>
            <a:pPr marL="342900" indent="-342900">
              <a:buAutoNum type="arabicPeriod"/>
            </a:pPr>
            <a:r>
              <a:rPr lang="en-IN" sz="1800" b="1" dirty="0"/>
              <a:t>Users Table</a:t>
            </a:r>
          </a:p>
          <a:p>
            <a:r>
              <a:rPr lang="en-US" sz="1800" dirty="0"/>
              <a:t>Stores user details, including roles (student, faculty, event manager</a:t>
            </a:r>
          </a:p>
          <a:p>
            <a:r>
              <a:rPr lang="en-US" sz="1800" dirty="0"/>
              <a:t>Attributes: id, name, prn, email, password, category.</a:t>
            </a:r>
          </a:p>
          <a:p>
            <a:pPr marL="0" indent="0">
              <a:buNone/>
            </a:pPr>
            <a:endParaRPr lang="en-IN" sz="1800" dirty="0"/>
          </a:p>
          <a:p>
            <a:pPr marL="0" indent="0">
              <a:buNone/>
            </a:pPr>
            <a:r>
              <a:rPr lang="en-US" sz="1800" dirty="0">
                <a:solidFill>
                  <a:schemeClr val="accent1"/>
                </a:solidFill>
                <a:effectLst>
                  <a:outerShdw blurRad="38100" dist="25400" dir="5400000" algn="ctr" rotWithShape="0">
                    <a:srgbClr val="6E747A">
                      <a:alpha val="43000"/>
                    </a:srgbClr>
                  </a:outerShdw>
                </a:effectLst>
              </a:rPr>
              <a:t>2.</a:t>
            </a:r>
            <a:r>
              <a:rPr lang="en-IN" sz="1800" dirty="0"/>
              <a:t> </a:t>
            </a:r>
            <a:r>
              <a:rPr lang="en-IN" sz="1800" b="1" dirty="0"/>
              <a:t>Events Table</a:t>
            </a:r>
          </a:p>
          <a:p>
            <a:r>
              <a:rPr lang="en-US" sz="1800" dirty="0"/>
              <a:t>Maintains event details like name, date, location, and status.</a:t>
            </a:r>
          </a:p>
          <a:p>
            <a:r>
              <a:rPr lang="en-US" sz="1800" dirty="0"/>
              <a:t>Attributes: id, name, </a:t>
            </a:r>
            <a:r>
              <a:rPr lang="en-US" sz="1800" dirty="0" err="1"/>
              <a:t>start_date</a:t>
            </a:r>
            <a:r>
              <a:rPr lang="en-US" sz="1800" dirty="0"/>
              <a:t>, </a:t>
            </a:r>
            <a:r>
              <a:rPr lang="en-US" sz="1800" dirty="0" err="1"/>
              <a:t>end_date</a:t>
            </a:r>
            <a:r>
              <a:rPr lang="en-US" sz="1800" dirty="0"/>
              <a:t>, location, status, </a:t>
            </a:r>
            <a:r>
              <a:rPr lang="en-US" sz="1800" dirty="0" err="1"/>
              <a:t>created_by_email</a:t>
            </a:r>
            <a:r>
              <a:rPr lang="en-US" sz="1800" dirty="0"/>
              <a:t>.</a:t>
            </a:r>
          </a:p>
          <a:p>
            <a:pPr marL="0" indent="0">
              <a:buNone/>
            </a:pPr>
            <a:endParaRPr lang="en-IN" sz="1800" dirty="0"/>
          </a:p>
          <a:p>
            <a:pPr marL="0" indent="0">
              <a:buNone/>
            </a:pPr>
            <a:r>
              <a:rPr lang="en-US" sz="1800" dirty="0">
                <a:solidFill>
                  <a:schemeClr val="accent1"/>
                </a:solidFill>
                <a:effectLst>
                  <a:outerShdw blurRad="38100" dist="25400" dir="5400000" algn="ctr" rotWithShape="0">
                    <a:srgbClr val="6E747A">
                      <a:alpha val="43000"/>
                    </a:srgbClr>
                  </a:outerShdw>
                </a:effectLst>
              </a:rPr>
              <a:t>3.</a:t>
            </a:r>
            <a:r>
              <a:rPr lang="en-IN" sz="1800" dirty="0"/>
              <a:t> </a:t>
            </a:r>
            <a:r>
              <a:rPr lang="en-IN" sz="1800" b="1" dirty="0"/>
              <a:t>Faculty Table</a:t>
            </a:r>
          </a:p>
          <a:p>
            <a:r>
              <a:rPr lang="en-US" sz="1800" dirty="0"/>
              <a:t>Tracks faculty assignments for specific events.</a:t>
            </a:r>
          </a:p>
          <a:p>
            <a:r>
              <a:rPr lang="en-US" sz="1800" dirty="0"/>
              <a:t>Attributes: </a:t>
            </a:r>
            <a:r>
              <a:rPr lang="en-US" sz="1800" dirty="0" err="1"/>
              <a:t>faculty_id</a:t>
            </a:r>
            <a:r>
              <a:rPr lang="en-US" sz="1800" dirty="0"/>
              <a:t>, name, </a:t>
            </a:r>
            <a:r>
              <a:rPr lang="en-US" sz="1800" dirty="0" err="1"/>
              <a:t>event_id</a:t>
            </a:r>
            <a:r>
              <a:rPr lang="en-US" sz="1800" dirty="0"/>
              <a:t>, </a:t>
            </a:r>
            <a:r>
              <a:rPr lang="en-US" sz="1800" dirty="0" err="1"/>
              <a:t>faculty_prn</a:t>
            </a:r>
            <a:r>
              <a:rPr lang="en-US" sz="1800" dirty="0"/>
              <a:t>.</a:t>
            </a:r>
            <a:endParaRPr lang="en-IN" sz="18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28</a:t>
            </a:fld>
            <a:endParaRPr lang="en-US"/>
          </a:p>
        </p:txBody>
      </p:sp>
    </p:spTree>
    <p:extLst>
      <p:ext uri="{BB962C8B-B14F-4D97-AF65-F5344CB8AC3E}">
        <p14:creationId xmlns:p14="http://schemas.microsoft.com/office/powerpoint/2010/main" val="4206973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9576"/>
            <a:ext cx="10876915" cy="830828"/>
          </a:xfrm>
        </p:spPr>
        <p:txBody>
          <a:bodyPr>
            <a:normAutofit/>
          </a:bodyPr>
          <a:lstStyle/>
          <a:p>
            <a:pPr algn="ctr"/>
            <a:r>
              <a:rPr lang="en-IN" sz="3600" dirty="0"/>
              <a:t>Database Design</a:t>
            </a:r>
            <a:endParaRPr lang="en-US" dirty="0"/>
          </a:p>
        </p:txBody>
      </p:sp>
      <p:sp>
        <p:nvSpPr>
          <p:cNvPr id="3" name="Content Placeholder 2"/>
          <p:cNvSpPr>
            <a:spLocks noGrp="1"/>
          </p:cNvSpPr>
          <p:nvPr>
            <p:ph idx="1"/>
          </p:nvPr>
        </p:nvSpPr>
        <p:spPr>
          <a:xfrm>
            <a:off x="234315" y="1552575"/>
            <a:ext cx="11119485" cy="4803775"/>
          </a:xfrm>
        </p:spPr>
        <p:txBody>
          <a:bodyPr>
            <a:normAutofit fontScale="92500" lnSpcReduction="10000"/>
          </a:bodyPr>
          <a:lstStyle/>
          <a:p>
            <a:pPr marL="0" indent="0">
              <a:buNone/>
            </a:pPr>
            <a:r>
              <a:rPr lang="en-IN" sz="1800" b="1" dirty="0"/>
              <a:t>4. Registrations Table</a:t>
            </a:r>
          </a:p>
          <a:p>
            <a:r>
              <a:rPr lang="en-IN" sz="1800" dirty="0"/>
              <a:t>Records participant registrations for events.</a:t>
            </a:r>
          </a:p>
          <a:p>
            <a:r>
              <a:rPr lang="en-US" sz="1800" dirty="0"/>
              <a:t>Attributes: id, name, email, </a:t>
            </a:r>
            <a:r>
              <a:rPr lang="en-US" sz="1800" dirty="0" err="1"/>
              <a:t>event_id</a:t>
            </a:r>
            <a:r>
              <a:rPr lang="en-US" sz="1800" dirty="0"/>
              <a:t>, </a:t>
            </a:r>
            <a:r>
              <a:rPr lang="en-US" sz="1800" dirty="0" err="1"/>
              <a:t>event_name</a:t>
            </a:r>
            <a:r>
              <a:rPr lang="en-US" sz="1800" dirty="0"/>
              <a:t>, purpose, </a:t>
            </a:r>
            <a:r>
              <a:rPr lang="en-US" sz="1800" dirty="0" err="1"/>
              <a:t>registration_date</a:t>
            </a:r>
            <a:r>
              <a:rPr lang="en-US" sz="1800" dirty="0"/>
              <a:t>.</a:t>
            </a:r>
            <a:endParaRPr lang="en-IN" sz="1800" dirty="0"/>
          </a:p>
          <a:p>
            <a:pPr marL="0" indent="0">
              <a:buNone/>
            </a:pPr>
            <a:endParaRPr lang="en-US" sz="1800" dirty="0">
              <a:solidFill>
                <a:schemeClr val="accent1"/>
              </a:solidFill>
              <a:effectLst>
                <a:outerShdw blurRad="38100" dist="25400" dir="5400000" algn="ctr" rotWithShape="0">
                  <a:srgbClr val="6E747A">
                    <a:alpha val="43000"/>
                  </a:srgbClr>
                </a:outerShdw>
              </a:effectLst>
            </a:endParaRPr>
          </a:p>
          <a:p>
            <a:pPr marL="0" indent="0">
              <a:buNone/>
            </a:pPr>
            <a:r>
              <a:rPr lang="en-US" sz="1800" b="1" dirty="0">
                <a:solidFill>
                  <a:schemeClr val="accent1"/>
                </a:solidFill>
                <a:effectLst>
                  <a:outerShdw blurRad="38100" dist="25400" dir="5400000" algn="ctr" rotWithShape="0">
                    <a:srgbClr val="6E747A">
                      <a:alpha val="43000"/>
                    </a:srgbClr>
                  </a:outerShdw>
                </a:effectLst>
              </a:rPr>
              <a:t>5. </a:t>
            </a:r>
            <a:r>
              <a:rPr lang="en-IN" sz="1800" b="1" dirty="0"/>
              <a:t>Login Table</a:t>
            </a:r>
          </a:p>
          <a:p>
            <a:r>
              <a:rPr lang="en-US" sz="1800" dirty="0"/>
              <a:t>Stores admin login credentials securely.</a:t>
            </a:r>
          </a:p>
          <a:p>
            <a:r>
              <a:rPr lang="en-IN" sz="1800" dirty="0"/>
              <a:t>Attributes: id, username, password.</a:t>
            </a:r>
          </a:p>
          <a:p>
            <a:pPr marL="0" indent="0">
              <a:buNone/>
            </a:pPr>
            <a:endParaRPr lang="en-IN" sz="1800" dirty="0"/>
          </a:p>
          <a:p>
            <a:pPr marL="0" indent="0">
              <a:buNone/>
            </a:pPr>
            <a:r>
              <a:rPr lang="en-IN" sz="1800" b="1" dirty="0"/>
              <a:t>6. Relationships Between Tables</a:t>
            </a:r>
            <a:endParaRPr lang="en-IN" sz="1800" dirty="0"/>
          </a:p>
          <a:p>
            <a:r>
              <a:rPr lang="en-IN" sz="1800" dirty="0"/>
              <a:t>Login Users → Users: </a:t>
            </a:r>
            <a:r>
              <a:rPr lang="en-US" sz="1800" dirty="0"/>
              <a:t>A one-to-one relationship exists between </a:t>
            </a:r>
            <a:r>
              <a:rPr lang="en-US" sz="1800" b="1" dirty="0" err="1"/>
              <a:t>login_users</a:t>
            </a:r>
            <a:r>
              <a:rPr lang="en-US" sz="1800" b="1" dirty="0"/>
              <a:t> </a:t>
            </a:r>
            <a:r>
              <a:rPr lang="en-US" sz="1800" dirty="0"/>
              <a:t>and </a:t>
            </a:r>
            <a:r>
              <a:rPr lang="en-US" sz="1800" b="1" dirty="0"/>
              <a:t>users</a:t>
            </a:r>
            <a:r>
              <a:rPr lang="en-US" sz="1800" dirty="0"/>
              <a:t>, as each user must have one unique login credential. </a:t>
            </a:r>
            <a:endParaRPr lang="en-IN" sz="1800" b="1" dirty="0"/>
          </a:p>
          <a:p>
            <a:r>
              <a:rPr lang="en-US" sz="1800" dirty="0"/>
              <a:t>Users </a:t>
            </a:r>
            <a:r>
              <a:rPr lang="en-IN" sz="1800" dirty="0"/>
              <a:t>→ </a:t>
            </a:r>
            <a:r>
              <a:rPr lang="en-US" sz="1800" dirty="0"/>
              <a:t>Registrations: </a:t>
            </a:r>
            <a:r>
              <a:rPr lang="en-IN" sz="1800" dirty="0"/>
              <a:t> </a:t>
            </a:r>
            <a:r>
              <a:rPr lang="en-US" sz="1800" dirty="0"/>
              <a:t>A one-to-many relationship exists, where each user can register for multiple events</a:t>
            </a:r>
          </a:p>
          <a:p>
            <a:r>
              <a:rPr lang="en-US" sz="1800" dirty="0"/>
              <a:t>Events </a:t>
            </a:r>
            <a:r>
              <a:rPr lang="en-IN" sz="1800" dirty="0"/>
              <a:t>→</a:t>
            </a:r>
            <a:r>
              <a:rPr lang="en-US" sz="1800" dirty="0"/>
              <a:t> Registrations: </a:t>
            </a:r>
            <a:r>
              <a:rPr lang="en-IN" sz="1800" dirty="0"/>
              <a:t> </a:t>
            </a:r>
            <a:r>
              <a:rPr lang="en-US" sz="1800" dirty="0"/>
              <a:t>A one-to-many relationship exists, where each event can have multiple registrants. </a:t>
            </a:r>
          </a:p>
          <a:p>
            <a:r>
              <a:rPr lang="en-US" sz="1800" dirty="0"/>
              <a:t>Events </a:t>
            </a:r>
            <a:r>
              <a:rPr lang="en-IN" sz="1800" dirty="0"/>
              <a:t>→</a:t>
            </a:r>
            <a:r>
              <a:rPr lang="en-US" sz="1800" dirty="0"/>
              <a:t> Faculty: A many-to-one relationship exists, where multiple faculty members can be associated with a single event. </a:t>
            </a:r>
          </a:p>
          <a:p>
            <a:endParaRPr lang="en-IN" sz="1800" dirty="0"/>
          </a:p>
          <a:p>
            <a:endParaRPr lang="en-IN" sz="18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29</a:t>
            </a:fld>
            <a:endParaRPr lang="en-US"/>
          </a:p>
        </p:txBody>
      </p:sp>
    </p:spTree>
    <p:extLst>
      <p:ext uri="{BB962C8B-B14F-4D97-AF65-F5344CB8AC3E}">
        <p14:creationId xmlns:p14="http://schemas.microsoft.com/office/powerpoint/2010/main" val="943959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3" name="Content Placeholder 2"/>
          <p:cNvSpPr>
            <a:spLocks noGrp="1"/>
          </p:cNvSpPr>
          <p:nvPr>
            <p:ph idx="1"/>
          </p:nvPr>
        </p:nvSpPr>
        <p:spPr>
          <a:xfrm>
            <a:off x="838200" y="1463040"/>
            <a:ext cx="10515600" cy="4713923"/>
          </a:xfrm>
        </p:spPr>
        <p:txBody>
          <a:bodyPr>
            <a:normAutofit/>
          </a:bodyPr>
          <a:lstStyle/>
          <a:p>
            <a:pPr marL="0" indent="0">
              <a:buNone/>
            </a:pPr>
            <a:r>
              <a:rPr lang="en-IN" sz="2000" dirty="0"/>
              <a:t>The EMS will be developed in an agile manner, with iterative sprints to ensure regular testing and updates:</a:t>
            </a:r>
          </a:p>
          <a:p>
            <a:pPr marL="0" indent="0">
              <a:buNone/>
            </a:pPr>
            <a:r>
              <a:rPr lang="en-IN" sz="2000" b="1" dirty="0"/>
              <a:t>Backend: </a:t>
            </a:r>
          </a:p>
          <a:p>
            <a:r>
              <a:rPr lang="en-IN" sz="2000" dirty="0"/>
              <a:t>Node.js REST APIs for CRUD operations.</a:t>
            </a:r>
          </a:p>
          <a:p>
            <a:r>
              <a:rPr lang="en-IN" sz="2000" dirty="0"/>
              <a:t>Express.js for routing.</a:t>
            </a:r>
          </a:p>
          <a:p>
            <a:pPr marL="0" indent="0">
              <a:buNone/>
            </a:pPr>
            <a:r>
              <a:rPr lang="en-IN" sz="2000" b="1" dirty="0"/>
              <a:t>Frontend:</a:t>
            </a:r>
          </a:p>
          <a:p>
            <a:r>
              <a:rPr lang="en-IN" sz="2000" dirty="0"/>
              <a:t>Dynamic EJS templates for responsive UI.</a:t>
            </a:r>
          </a:p>
          <a:p>
            <a:pPr marL="0" indent="0">
              <a:buNone/>
            </a:pPr>
            <a:r>
              <a:rPr lang="en-IN" sz="2000" b="1" dirty="0"/>
              <a:t>Database:</a:t>
            </a:r>
          </a:p>
          <a:p>
            <a:r>
              <a:rPr lang="en-IN" sz="2000" dirty="0"/>
              <a:t>MySQL for storing users, events, and registrations.</a:t>
            </a:r>
          </a:p>
          <a:p>
            <a:endParaRPr lang="en-IN" sz="20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30</a:t>
            </a:fld>
            <a:endParaRPr lang="en-US"/>
          </a:p>
        </p:txBody>
      </p:sp>
    </p:spTree>
    <p:extLst>
      <p:ext uri="{BB962C8B-B14F-4D97-AF65-F5344CB8AC3E}">
        <p14:creationId xmlns:p14="http://schemas.microsoft.com/office/powerpoint/2010/main" val="3778785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31</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89" y="1480458"/>
            <a:ext cx="3536631" cy="4371703"/>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2583" y="1480458"/>
            <a:ext cx="4505909" cy="4371703"/>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2069" y="1480457"/>
            <a:ext cx="3317965" cy="4371703"/>
          </a:xfrm>
          <a:prstGeom prst="rect">
            <a:avLst/>
          </a:prstGeom>
        </p:spPr>
      </p:pic>
    </p:spTree>
    <p:extLst>
      <p:ext uri="{BB962C8B-B14F-4D97-AF65-F5344CB8AC3E}">
        <p14:creationId xmlns:p14="http://schemas.microsoft.com/office/powerpoint/2010/main" val="1286024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pic>
        <p:nvPicPr>
          <p:cNvPr id="6" name="Content Placeholder 5"/>
          <p:cNvPicPr>
            <a:picLocks noGrp="1" noChangeAspect="1"/>
          </p:cNvPicPr>
          <p:nvPr>
            <p:ph idx="1"/>
          </p:nvPr>
        </p:nvPicPr>
        <p:blipFill>
          <a:blip r:embed="rId2"/>
          <a:stretch>
            <a:fillRect/>
          </a:stretch>
        </p:blipFill>
        <p:spPr>
          <a:xfrm>
            <a:off x="572700" y="1854924"/>
            <a:ext cx="4382478" cy="4128385"/>
          </a:xfrm>
          <a:prstGeom prst="rect">
            <a:avLst/>
          </a:prstGeom>
        </p:spPr>
      </p:pic>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32</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0309" y="1776548"/>
            <a:ext cx="6888480" cy="4206761"/>
          </a:xfrm>
          <a:prstGeom prst="rect">
            <a:avLst/>
          </a:prstGeom>
        </p:spPr>
      </p:pic>
    </p:spTree>
    <p:extLst>
      <p:ext uri="{BB962C8B-B14F-4D97-AF65-F5344CB8AC3E}">
        <p14:creationId xmlns:p14="http://schemas.microsoft.com/office/powerpoint/2010/main" val="1947170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33</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382" y="1950720"/>
            <a:ext cx="5077098" cy="4310743"/>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4114" y="1950720"/>
            <a:ext cx="6487886" cy="4405630"/>
          </a:xfrm>
          <a:prstGeom prst="rect">
            <a:avLst/>
          </a:prstGeom>
        </p:spPr>
      </p:pic>
    </p:spTree>
    <p:extLst>
      <p:ext uri="{BB962C8B-B14F-4D97-AF65-F5344CB8AC3E}">
        <p14:creationId xmlns:p14="http://schemas.microsoft.com/office/powerpoint/2010/main" val="3259139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34</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382" y="1624059"/>
            <a:ext cx="5277395" cy="473229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1422" y="1624058"/>
            <a:ext cx="6076405" cy="4732292"/>
          </a:xfrm>
          <a:prstGeom prst="rect">
            <a:avLst/>
          </a:prstGeom>
        </p:spPr>
      </p:pic>
    </p:spTree>
    <p:extLst>
      <p:ext uri="{BB962C8B-B14F-4D97-AF65-F5344CB8AC3E}">
        <p14:creationId xmlns:p14="http://schemas.microsoft.com/office/powerpoint/2010/main" val="3390690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35</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298" y="1654628"/>
            <a:ext cx="5634446" cy="4626836"/>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2127" y="1654627"/>
            <a:ext cx="5869576" cy="4563293"/>
          </a:xfrm>
          <a:prstGeom prst="rect">
            <a:avLst/>
          </a:prstGeom>
        </p:spPr>
      </p:pic>
    </p:spTree>
    <p:extLst>
      <p:ext uri="{BB962C8B-B14F-4D97-AF65-F5344CB8AC3E}">
        <p14:creationId xmlns:p14="http://schemas.microsoft.com/office/powerpoint/2010/main" val="894238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36</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217" y="1593668"/>
            <a:ext cx="5878286" cy="467895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0470" y="1593668"/>
            <a:ext cx="5451566" cy="4602480"/>
          </a:xfrm>
          <a:prstGeom prst="rect">
            <a:avLst/>
          </a:prstGeom>
        </p:spPr>
      </p:pic>
    </p:spTree>
    <p:extLst>
      <p:ext uri="{BB962C8B-B14F-4D97-AF65-F5344CB8AC3E}">
        <p14:creationId xmlns:p14="http://schemas.microsoft.com/office/powerpoint/2010/main" val="1132901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37</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593668"/>
            <a:ext cx="6139542" cy="4689111"/>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0172" y="1593668"/>
            <a:ext cx="5921828" cy="4689112"/>
          </a:xfrm>
          <a:prstGeom prst="rect">
            <a:avLst/>
          </a:prstGeom>
        </p:spPr>
      </p:pic>
    </p:spTree>
    <p:extLst>
      <p:ext uri="{BB962C8B-B14F-4D97-AF65-F5344CB8AC3E}">
        <p14:creationId xmlns:p14="http://schemas.microsoft.com/office/powerpoint/2010/main" val="4257361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pPr algn="ctr"/>
            <a:r>
              <a:rPr lang="en-IN" dirty="0"/>
              <a:t>Implementation</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38</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846" y="1463495"/>
            <a:ext cx="5860868" cy="489285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011" y="1463495"/>
            <a:ext cx="5677989" cy="4789260"/>
          </a:xfrm>
          <a:prstGeom prst="rect">
            <a:avLst/>
          </a:prstGeom>
        </p:spPr>
      </p:pic>
    </p:spTree>
    <p:extLst>
      <p:ext uri="{BB962C8B-B14F-4D97-AF65-F5344CB8AC3E}">
        <p14:creationId xmlns:p14="http://schemas.microsoft.com/office/powerpoint/2010/main" val="2284697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lstStyle/>
          <a:p>
            <a:pPr algn="ctr"/>
            <a:r>
              <a:rPr lang="en-IN" dirty="0"/>
              <a:t>Security Measures</a:t>
            </a:r>
          </a:p>
        </p:txBody>
      </p:sp>
      <p:sp>
        <p:nvSpPr>
          <p:cNvPr id="3" name="Content Placeholder 2"/>
          <p:cNvSpPr>
            <a:spLocks noGrp="1"/>
          </p:cNvSpPr>
          <p:nvPr>
            <p:ph idx="1"/>
          </p:nvPr>
        </p:nvSpPr>
        <p:spPr>
          <a:xfrm>
            <a:off x="838200" y="1558834"/>
            <a:ext cx="10515600" cy="4618129"/>
          </a:xfrm>
        </p:spPr>
        <p:txBody>
          <a:bodyPr>
            <a:normAutofit/>
          </a:bodyPr>
          <a:lstStyle/>
          <a:p>
            <a:r>
              <a:rPr lang="en-US" sz="2400" dirty="0"/>
              <a:t>Password hashing using </a:t>
            </a:r>
            <a:r>
              <a:rPr lang="en-US" sz="2400" dirty="0" err="1"/>
              <a:t>bcrypt</a:t>
            </a:r>
            <a:r>
              <a:rPr lang="en-US" sz="2400" dirty="0"/>
              <a:t>.</a:t>
            </a:r>
          </a:p>
          <a:p>
            <a:pPr marL="0" indent="0">
              <a:buNone/>
            </a:pPr>
            <a:endParaRPr lang="en-US" sz="2400" dirty="0"/>
          </a:p>
          <a:p>
            <a:r>
              <a:rPr lang="en-US" sz="2400" dirty="0"/>
              <a:t>Email OTP verification during signup.</a:t>
            </a:r>
          </a:p>
          <a:p>
            <a:endParaRPr lang="en-US" sz="2400" dirty="0"/>
          </a:p>
          <a:p>
            <a:r>
              <a:rPr lang="en-US" sz="2400" dirty="0"/>
              <a:t>Sessions and cookies for validation.</a:t>
            </a:r>
          </a:p>
          <a:p>
            <a:endParaRPr lang="en-US" sz="2400" dirty="0"/>
          </a:p>
          <a:p>
            <a:r>
              <a:rPr lang="en-US" sz="2400" dirty="0"/>
              <a:t>Restricted access based on user roles.</a:t>
            </a:r>
            <a:endParaRPr lang="en-IN" sz="24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39</a:t>
            </a:fld>
            <a:endParaRPr lang="en-US"/>
          </a:p>
        </p:txBody>
      </p:sp>
    </p:spTree>
    <p:extLst>
      <p:ext uri="{BB962C8B-B14F-4D97-AF65-F5344CB8AC3E}">
        <p14:creationId xmlns:p14="http://schemas.microsoft.com/office/powerpoint/2010/main" val="4155489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1492"/>
          </a:xfrm>
        </p:spPr>
        <p:txBody>
          <a:bodyPr/>
          <a:lstStyle/>
          <a:p>
            <a:pPr algn="ctr"/>
            <a:r>
              <a:rPr lang="en-IN" dirty="0"/>
              <a:t>Testing</a:t>
            </a:r>
          </a:p>
        </p:txBody>
      </p:sp>
      <p:sp>
        <p:nvSpPr>
          <p:cNvPr id="3" name="Content Placeholder 2"/>
          <p:cNvSpPr>
            <a:spLocks noGrp="1"/>
          </p:cNvSpPr>
          <p:nvPr>
            <p:ph idx="1"/>
          </p:nvPr>
        </p:nvSpPr>
        <p:spPr>
          <a:xfrm>
            <a:off x="838200" y="1410789"/>
            <a:ext cx="10515600" cy="4766174"/>
          </a:xfrm>
        </p:spPr>
        <p:txBody>
          <a:bodyPr>
            <a:normAutofit/>
          </a:bodyPr>
          <a:lstStyle/>
          <a:p>
            <a:pPr marL="0" indent="0">
              <a:buNone/>
            </a:pPr>
            <a:r>
              <a:rPr lang="en-US" sz="1800" b="1" dirty="0"/>
              <a:t>Unit Testing:</a:t>
            </a:r>
            <a:endParaRPr lang="en-US" sz="1800" dirty="0"/>
          </a:p>
          <a:p>
            <a:r>
              <a:rPr lang="en-US" sz="1800" dirty="0"/>
              <a:t>Validated individual components like login, signup, and email functionality.</a:t>
            </a:r>
          </a:p>
          <a:p>
            <a:r>
              <a:rPr lang="en-US" sz="1800" dirty="0"/>
              <a:t>Ensured proper error handling and OTP delivery.</a:t>
            </a:r>
          </a:p>
          <a:p>
            <a:pPr marL="0" indent="0">
              <a:buNone/>
            </a:pPr>
            <a:endParaRPr lang="en-US" sz="1800" dirty="0"/>
          </a:p>
          <a:p>
            <a:pPr marL="0" indent="0">
              <a:buNone/>
            </a:pPr>
            <a:r>
              <a:rPr lang="en-US" sz="1800" b="1" dirty="0"/>
              <a:t>2. Integration Testing:</a:t>
            </a:r>
            <a:endParaRPr lang="en-US" sz="1800" dirty="0"/>
          </a:p>
          <a:p>
            <a:pPr marL="0" indent="0">
              <a:buNone/>
            </a:pPr>
            <a:r>
              <a:rPr lang="en-US" sz="1800" dirty="0"/>
              <a:t>Verified seamless interaction between modules (e.g., event creation, email notifications, and faculty assignments).</a:t>
            </a:r>
          </a:p>
          <a:p>
            <a:pPr marL="0" indent="0">
              <a:buNone/>
            </a:pPr>
            <a:endParaRPr lang="en-US" sz="1800" dirty="0"/>
          </a:p>
          <a:p>
            <a:pPr marL="0" indent="0">
              <a:buNone/>
            </a:pPr>
            <a:r>
              <a:rPr lang="en-US" sz="1800" b="1" dirty="0"/>
              <a:t>3. User Testing:</a:t>
            </a:r>
            <a:endParaRPr lang="en-US" sz="1800" dirty="0"/>
          </a:p>
          <a:p>
            <a:r>
              <a:rPr lang="en-US" sz="1800" dirty="0"/>
              <a:t>Conducted with sample users to evaluate system usability.</a:t>
            </a:r>
          </a:p>
          <a:p>
            <a:r>
              <a:rPr lang="en-US" sz="1800" dirty="0"/>
              <a:t>Collected feedback and resolved issues to improve user experience.</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40</a:t>
            </a:fld>
            <a:endParaRPr lang="en-US"/>
          </a:p>
        </p:txBody>
      </p:sp>
    </p:spTree>
    <p:extLst>
      <p:ext uri="{BB962C8B-B14F-4D97-AF65-F5344CB8AC3E}">
        <p14:creationId xmlns:p14="http://schemas.microsoft.com/office/powerpoint/2010/main" val="1625461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9576"/>
            <a:ext cx="10876915" cy="830828"/>
          </a:xfrm>
        </p:spPr>
        <p:txBody>
          <a:bodyPr>
            <a:normAutofit/>
          </a:bodyPr>
          <a:lstStyle/>
          <a:p>
            <a:pPr algn="ctr"/>
            <a:r>
              <a:rPr lang="en-IN" sz="3600" dirty="0"/>
              <a:t>Individual Contributions (Member 1)</a:t>
            </a:r>
            <a:endParaRPr lang="en-US" sz="4000" dirty="0"/>
          </a:p>
        </p:txBody>
      </p:sp>
      <p:sp>
        <p:nvSpPr>
          <p:cNvPr id="3" name="Content Placeholder 2"/>
          <p:cNvSpPr>
            <a:spLocks noGrp="1"/>
          </p:cNvSpPr>
          <p:nvPr>
            <p:ph idx="1"/>
          </p:nvPr>
        </p:nvSpPr>
        <p:spPr>
          <a:xfrm>
            <a:off x="234315" y="1552575"/>
            <a:ext cx="11119485" cy="4803775"/>
          </a:xfrm>
        </p:spPr>
        <p:txBody>
          <a:bodyPr>
            <a:normAutofit/>
          </a:bodyPr>
          <a:lstStyle/>
          <a:p>
            <a:pPr marL="0" indent="0">
              <a:buNone/>
            </a:pPr>
            <a:r>
              <a:rPr lang="en-IN" sz="1800" b="1" dirty="0"/>
              <a:t>Login Page:</a:t>
            </a:r>
          </a:p>
          <a:p>
            <a:pPr marL="0" indent="0">
              <a:buNone/>
            </a:pPr>
            <a:endParaRPr lang="en-IN" sz="1800" b="1" dirty="0"/>
          </a:p>
          <a:p>
            <a:r>
              <a:rPr lang="en-US" sz="1800" dirty="0"/>
              <a:t>Designed an intuitive login interface that supports role-based authentication for students, faculty, event organizers, and admin faculty.</a:t>
            </a:r>
          </a:p>
          <a:p>
            <a:r>
              <a:rPr lang="en-US" sz="1800" dirty="0"/>
              <a:t>Implemented error handling to block unauthorized access and display clear error messages for invalid credentials.</a:t>
            </a:r>
          </a:p>
          <a:p>
            <a:endParaRPr lang="en-US" sz="1800" dirty="0">
              <a:solidFill>
                <a:schemeClr val="accent1"/>
              </a:solidFill>
              <a:effectLst>
                <a:outerShdw blurRad="38100" dist="25400" dir="5400000" algn="ctr" rotWithShape="0">
                  <a:srgbClr val="6E747A">
                    <a:alpha val="43000"/>
                  </a:srgbClr>
                </a:outerShdw>
              </a:effectLst>
            </a:endParaRPr>
          </a:p>
          <a:p>
            <a:pPr marL="0" indent="0">
              <a:buNone/>
            </a:pPr>
            <a:r>
              <a:rPr lang="en-IN" sz="1800" b="1" dirty="0"/>
              <a:t>Signup Page:</a:t>
            </a:r>
          </a:p>
          <a:p>
            <a:pPr marL="0" indent="0">
              <a:buNone/>
            </a:pPr>
            <a:endParaRPr lang="en-IN" sz="1800" b="1" dirty="0">
              <a:solidFill>
                <a:schemeClr val="accent1"/>
              </a:solidFill>
              <a:effectLst>
                <a:outerShdw blurRad="38100" dist="25400" dir="5400000" algn="ctr" rotWithShape="0">
                  <a:srgbClr val="6E747A">
                    <a:alpha val="43000"/>
                  </a:srgbClr>
                </a:outerShdw>
              </a:effectLst>
            </a:endParaRPr>
          </a:p>
          <a:p>
            <a:r>
              <a:rPr lang="en-US" sz="1800" dirty="0"/>
              <a:t>Developed a secure registration system using email OTP verification to validate user identities.</a:t>
            </a:r>
          </a:p>
          <a:p>
            <a:r>
              <a:rPr lang="en-US" sz="1800" dirty="0"/>
              <a:t>Used </a:t>
            </a:r>
            <a:r>
              <a:rPr lang="en-US" sz="1800" b="1" dirty="0" err="1"/>
              <a:t>bcrypt</a:t>
            </a:r>
            <a:r>
              <a:rPr lang="en-US" sz="1800" dirty="0"/>
              <a:t> for password hashing to enhance database security, ensuring sensitive user information is protected.</a:t>
            </a:r>
            <a:endParaRPr lang="en-US" sz="1800" b="1" dirty="0">
              <a:solidFill>
                <a:schemeClr val="accent1"/>
              </a:solidFill>
              <a:effectLst>
                <a:outerShdw blurRad="38100" dist="25400" dir="5400000" algn="ctr" rotWithShape="0">
                  <a:srgbClr val="6E747A">
                    <a:alpha val="43000"/>
                  </a:srgbClr>
                </a:outerShdw>
              </a:effectLst>
            </a:endParaRP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9576"/>
            <a:ext cx="10876915" cy="830828"/>
          </a:xfrm>
        </p:spPr>
        <p:txBody>
          <a:bodyPr>
            <a:normAutofit/>
          </a:bodyPr>
          <a:lstStyle/>
          <a:p>
            <a:pPr algn="ctr"/>
            <a:r>
              <a:rPr lang="en-IN" sz="3600" dirty="0"/>
              <a:t>Individual Contributions (Member 2)</a:t>
            </a:r>
            <a:endParaRPr lang="en-US" sz="4000" dirty="0"/>
          </a:p>
        </p:txBody>
      </p:sp>
      <p:sp>
        <p:nvSpPr>
          <p:cNvPr id="3" name="Content Placeholder 2"/>
          <p:cNvSpPr>
            <a:spLocks noGrp="1"/>
          </p:cNvSpPr>
          <p:nvPr>
            <p:ph idx="1"/>
          </p:nvPr>
        </p:nvSpPr>
        <p:spPr>
          <a:xfrm>
            <a:off x="234315" y="1552575"/>
            <a:ext cx="11119485" cy="4803775"/>
          </a:xfrm>
        </p:spPr>
        <p:txBody>
          <a:bodyPr>
            <a:normAutofit/>
          </a:bodyPr>
          <a:lstStyle/>
          <a:p>
            <a:pPr marL="0" indent="0">
              <a:buNone/>
            </a:pPr>
            <a:r>
              <a:rPr lang="en-IN" sz="1800" b="1" dirty="0"/>
              <a:t>Faculty Page:</a:t>
            </a:r>
          </a:p>
          <a:p>
            <a:pPr marL="0" indent="0">
              <a:buNone/>
            </a:pPr>
            <a:endParaRPr lang="en-IN" sz="1800" b="1" dirty="0"/>
          </a:p>
          <a:p>
            <a:r>
              <a:rPr lang="en-US" sz="1800" dirty="0"/>
              <a:t>Designed an intuitive login interface that supports role-based authentication for students, faculty, event organizers, and admin faculty.</a:t>
            </a:r>
          </a:p>
          <a:p>
            <a:r>
              <a:rPr lang="en-US" sz="1800" dirty="0"/>
              <a:t>Implemented error handling to block unauthorized access and display clear error messages for invalid credentials.</a:t>
            </a:r>
          </a:p>
          <a:p>
            <a:endParaRPr lang="en-US" sz="1800" dirty="0">
              <a:solidFill>
                <a:schemeClr val="accent1"/>
              </a:solidFill>
              <a:effectLst>
                <a:outerShdw blurRad="38100" dist="25400" dir="5400000" algn="ctr" rotWithShape="0">
                  <a:srgbClr val="6E747A">
                    <a:alpha val="43000"/>
                  </a:srgbClr>
                </a:outerShdw>
              </a:effectLst>
            </a:endParaRPr>
          </a:p>
          <a:p>
            <a:pPr marL="0" indent="0">
              <a:buNone/>
            </a:pPr>
            <a:r>
              <a:rPr lang="en-IN" sz="1800" b="1" dirty="0"/>
              <a:t>Student Page:</a:t>
            </a:r>
          </a:p>
          <a:p>
            <a:pPr marL="0" indent="0">
              <a:buNone/>
            </a:pPr>
            <a:endParaRPr lang="en-IN" sz="1800" b="1" dirty="0"/>
          </a:p>
          <a:p>
            <a:r>
              <a:rPr lang="en-US" sz="1800" dirty="0"/>
              <a:t>Designed a user-friendly interface for students to browse available events and register seamlessly.</a:t>
            </a:r>
          </a:p>
          <a:p>
            <a:r>
              <a:rPr lang="en-US" sz="1800" dirty="0"/>
              <a:t>Incorporated real-time updates to display the status of event registrations and notifications.</a:t>
            </a:r>
            <a:endParaRPr lang="en-IN" sz="1800" b="1"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42</a:t>
            </a:fld>
            <a:endParaRPr lang="en-US"/>
          </a:p>
        </p:txBody>
      </p:sp>
    </p:spTree>
    <p:extLst>
      <p:ext uri="{BB962C8B-B14F-4D97-AF65-F5344CB8AC3E}">
        <p14:creationId xmlns:p14="http://schemas.microsoft.com/office/powerpoint/2010/main" val="830556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9576"/>
            <a:ext cx="10876915" cy="830828"/>
          </a:xfrm>
        </p:spPr>
        <p:txBody>
          <a:bodyPr>
            <a:normAutofit/>
          </a:bodyPr>
          <a:lstStyle/>
          <a:p>
            <a:pPr algn="ctr"/>
            <a:r>
              <a:rPr lang="en-IN" sz="3600" dirty="0"/>
              <a:t>Individual Contributions (Member 3)</a:t>
            </a:r>
            <a:endParaRPr lang="en-US" sz="4000" dirty="0"/>
          </a:p>
        </p:txBody>
      </p:sp>
      <p:sp>
        <p:nvSpPr>
          <p:cNvPr id="3" name="Content Placeholder 2"/>
          <p:cNvSpPr>
            <a:spLocks noGrp="1"/>
          </p:cNvSpPr>
          <p:nvPr>
            <p:ph idx="1"/>
          </p:nvPr>
        </p:nvSpPr>
        <p:spPr>
          <a:xfrm>
            <a:off x="234315" y="1552575"/>
            <a:ext cx="11119485" cy="4803775"/>
          </a:xfrm>
        </p:spPr>
        <p:txBody>
          <a:bodyPr>
            <a:normAutofit/>
          </a:bodyPr>
          <a:lstStyle/>
          <a:p>
            <a:pPr marL="0" indent="0">
              <a:buNone/>
            </a:pPr>
            <a:r>
              <a:rPr lang="en-IN" sz="1800" b="1" dirty="0"/>
              <a:t>Event Organizer Page</a:t>
            </a:r>
          </a:p>
          <a:p>
            <a:pPr marL="0" indent="0">
              <a:buNone/>
            </a:pPr>
            <a:endParaRPr lang="en-IN" sz="1800" b="1" dirty="0"/>
          </a:p>
          <a:p>
            <a:pPr marL="0" indent="0">
              <a:buNone/>
            </a:pPr>
            <a:r>
              <a:rPr lang="en-IN" sz="1800" dirty="0"/>
              <a:t>Event Creation and Management: </a:t>
            </a:r>
          </a:p>
          <a:p>
            <a:r>
              <a:rPr lang="en-US" sz="1800" dirty="0"/>
              <a:t>Designed and developed a page where event organizers can create, edit, or delete events.</a:t>
            </a:r>
          </a:p>
          <a:p>
            <a:r>
              <a:rPr lang="en-US" sz="1800" dirty="0"/>
              <a:t>Integrated validation checks to prevent duplicate entries and ensure accurate event details are saved.</a:t>
            </a:r>
            <a:endParaRPr lang="en-IN" sz="1800" b="1" dirty="0"/>
          </a:p>
          <a:p>
            <a:pPr marL="0" indent="0">
              <a:buNone/>
            </a:pPr>
            <a:endParaRPr lang="en-IN" sz="1800" b="1" dirty="0"/>
          </a:p>
          <a:p>
            <a:pPr marL="0" indent="0">
              <a:buNone/>
            </a:pPr>
            <a:r>
              <a:rPr lang="en-IN" sz="1800" dirty="0"/>
              <a:t>Participant Data and Notifications:</a:t>
            </a:r>
          </a:p>
          <a:p>
            <a:r>
              <a:rPr lang="en-US" sz="1800" dirty="0"/>
              <a:t>Provided event organizers with tools to view total number of participant.</a:t>
            </a:r>
          </a:p>
          <a:p>
            <a:pPr marL="0" indent="0">
              <a:buNone/>
            </a:pPr>
            <a:endParaRPr lang="en-US" sz="1800" dirty="0"/>
          </a:p>
          <a:p>
            <a:pPr marL="0" indent="0">
              <a:buNone/>
            </a:pPr>
            <a:r>
              <a:rPr lang="en-IN" sz="1800" dirty="0"/>
              <a:t>User-Friendly Design:</a:t>
            </a:r>
          </a:p>
          <a:p>
            <a:r>
              <a:rPr lang="en-US" sz="1800" dirty="0"/>
              <a:t>Focused on creating an intuitive interface that simplifies event management tasks for organizers.</a:t>
            </a:r>
          </a:p>
          <a:p>
            <a:endParaRPr lang="en-IN" sz="1800" b="1"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43</a:t>
            </a:fld>
            <a:endParaRPr lang="en-US"/>
          </a:p>
        </p:txBody>
      </p:sp>
    </p:spTree>
    <p:extLst>
      <p:ext uri="{BB962C8B-B14F-4D97-AF65-F5344CB8AC3E}">
        <p14:creationId xmlns:p14="http://schemas.microsoft.com/office/powerpoint/2010/main" val="3857751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9576"/>
            <a:ext cx="10876915" cy="830828"/>
          </a:xfrm>
        </p:spPr>
        <p:txBody>
          <a:bodyPr>
            <a:normAutofit/>
          </a:bodyPr>
          <a:lstStyle/>
          <a:p>
            <a:pPr algn="ctr"/>
            <a:r>
              <a:rPr lang="en-IN" sz="3600" dirty="0"/>
              <a:t>Individual Contributions (Member 4)</a:t>
            </a:r>
            <a:endParaRPr lang="en-US" sz="4000" dirty="0"/>
          </a:p>
        </p:txBody>
      </p:sp>
      <p:sp>
        <p:nvSpPr>
          <p:cNvPr id="3" name="Content Placeholder 2"/>
          <p:cNvSpPr>
            <a:spLocks noGrp="1"/>
          </p:cNvSpPr>
          <p:nvPr>
            <p:ph idx="1"/>
          </p:nvPr>
        </p:nvSpPr>
        <p:spPr>
          <a:xfrm>
            <a:off x="234315" y="1552575"/>
            <a:ext cx="11119485" cy="4803775"/>
          </a:xfrm>
        </p:spPr>
        <p:txBody>
          <a:bodyPr>
            <a:normAutofit/>
          </a:bodyPr>
          <a:lstStyle/>
          <a:p>
            <a:pPr marL="0" indent="0">
              <a:buNone/>
            </a:pPr>
            <a:r>
              <a:rPr lang="en-IN" sz="1800" b="1" dirty="0"/>
              <a:t>Admin Page</a:t>
            </a:r>
          </a:p>
          <a:p>
            <a:pPr marL="0" indent="0">
              <a:buNone/>
            </a:pPr>
            <a:r>
              <a:rPr lang="en-IN" sz="1800" dirty="0"/>
              <a:t>Event Approval and Management:</a:t>
            </a:r>
          </a:p>
          <a:p>
            <a:r>
              <a:rPr lang="en-US" sz="1800" dirty="0"/>
              <a:t>Developed a page where admin faculty can approve or deny event requests submitted by event organizers.</a:t>
            </a:r>
          </a:p>
          <a:p>
            <a:r>
              <a:rPr lang="en-US" sz="1800" dirty="0"/>
              <a:t>Implemented functionality to assign a faculty member as an in-charge for specific events.</a:t>
            </a:r>
          </a:p>
          <a:p>
            <a:pPr marL="0" indent="0">
              <a:buNone/>
            </a:pPr>
            <a:endParaRPr lang="en-IN" sz="1800" b="1" dirty="0"/>
          </a:p>
          <a:p>
            <a:pPr marL="0" indent="0">
              <a:buNone/>
            </a:pPr>
            <a:r>
              <a:rPr lang="en-IN" sz="1800" dirty="0"/>
              <a:t>Automated Notifications:</a:t>
            </a:r>
          </a:p>
          <a:p>
            <a:r>
              <a:rPr lang="en-US" sz="1800" dirty="0"/>
              <a:t>Automated the process of notifying registered students via email when event dates are changed or canceled.</a:t>
            </a:r>
          </a:p>
          <a:p>
            <a:r>
              <a:rPr lang="en-US" sz="1800" dirty="0"/>
              <a:t>Integrated backend triggers to ensure real-time updates and seamless notification delivery.</a:t>
            </a:r>
          </a:p>
          <a:p>
            <a:endParaRPr lang="en-IN" sz="1800" b="1" dirty="0"/>
          </a:p>
          <a:p>
            <a:pPr marL="0" indent="0">
              <a:buNone/>
            </a:pPr>
            <a:r>
              <a:rPr lang="en-IN" sz="1800" dirty="0"/>
              <a:t>Role-Based Security:</a:t>
            </a:r>
          </a:p>
          <a:p>
            <a:r>
              <a:rPr lang="en-US" sz="1800" dirty="0"/>
              <a:t>Implemented robust role-based access controls to ensure admin-specific operations remain secure.</a:t>
            </a:r>
            <a:endParaRPr lang="en-IN" sz="1800" b="1"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44</a:t>
            </a:fld>
            <a:endParaRPr lang="en-US"/>
          </a:p>
        </p:txBody>
      </p:sp>
    </p:spTree>
    <p:extLst>
      <p:ext uri="{BB962C8B-B14F-4D97-AF65-F5344CB8AC3E}">
        <p14:creationId xmlns:p14="http://schemas.microsoft.com/office/powerpoint/2010/main" val="2790065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6326"/>
          </a:xfrm>
        </p:spPr>
        <p:txBody>
          <a:bodyPr>
            <a:normAutofit/>
          </a:bodyPr>
          <a:lstStyle/>
          <a:p>
            <a:pPr algn="ctr"/>
            <a:r>
              <a:rPr lang="en-IN" sz="3600" dirty="0"/>
              <a:t>Future Aspects</a:t>
            </a:r>
          </a:p>
        </p:txBody>
      </p:sp>
      <p:sp>
        <p:nvSpPr>
          <p:cNvPr id="3" name="Content Placeholder 2"/>
          <p:cNvSpPr>
            <a:spLocks noGrp="1"/>
          </p:cNvSpPr>
          <p:nvPr>
            <p:ph idx="1"/>
          </p:nvPr>
        </p:nvSpPr>
        <p:spPr>
          <a:xfrm>
            <a:off x="838200" y="1480457"/>
            <a:ext cx="10515600" cy="4696506"/>
          </a:xfrm>
        </p:spPr>
        <p:txBody>
          <a:bodyPr>
            <a:noAutofit/>
          </a:bodyPr>
          <a:lstStyle/>
          <a:p>
            <a:pPr marL="0" indent="0">
              <a:buNone/>
            </a:pPr>
            <a:r>
              <a:rPr lang="en-IN" sz="1800" dirty="0"/>
              <a:t>Mobile Optimization:</a:t>
            </a:r>
          </a:p>
          <a:p>
            <a:r>
              <a:rPr lang="en-US" sz="1800" dirty="0"/>
              <a:t>Improve mobile responsiveness for on-the-go event management with a seamless user experience.</a:t>
            </a:r>
          </a:p>
          <a:p>
            <a:pPr marL="0" indent="0">
              <a:buNone/>
            </a:pPr>
            <a:endParaRPr lang="en-US" sz="1800" dirty="0"/>
          </a:p>
          <a:p>
            <a:pPr marL="0" indent="0">
              <a:buNone/>
            </a:pPr>
            <a:r>
              <a:rPr lang="en-IN" sz="1800" dirty="0"/>
              <a:t>Real-Time Chat:</a:t>
            </a:r>
          </a:p>
          <a:p>
            <a:r>
              <a:rPr lang="en-US" sz="1800" dirty="0"/>
              <a:t>Enable quick query resolution through a live chat feature for participants and organizers.</a:t>
            </a:r>
          </a:p>
          <a:p>
            <a:endParaRPr lang="en-US" sz="1800" dirty="0"/>
          </a:p>
          <a:p>
            <a:pPr marL="0" indent="0">
              <a:buNone/>
            </a:pPr>
            <a:r>
              <a:rPr lang="en-IN" sz="1800" dirty="0"/>
              <a:t>Advanced Analytics:</a:t>
            </a:r>
          </a:p>
          <a:p>
            <a:r>
              <a:rPr lang="en-US" sz="1800" dirty="0"/>
              <a:t>Track participation trends and provide actionable insights for better event planning.</a:t>
            </a:r>
          </a:p>
          <a:p>
            <a:pPr marL="0" indent="0">
              <a:buNone/>
            </a:pPr>
            <a:endParaRPr lang="en-US" sz="1800" dirty="0"/>
          </a:p>
          <a:p>
            <a:pPr marL="0" indent="0">
              <a:buNone/>
            </a:pPr>
            <a:r>
              <a:rPr lang="en-IN" sz="1800" dirty="0"/>
              <a:t>Diverse Event Support:</a:t>
            </a:r>
          </a:p>
          <a:p>
            <a:r>
              <a:rPr lang="en-US" sz="1800" dirty="0"/>
              <a:t>Extend features to handle various events like conferences, festivals, and tournaments, ensuring scalability.</a:t>
            </a:r>
            <a:endParaRPr lang="en-IN" sz="18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45</a:t>
            </a:fld>
            <a:endParaRPr lang="en-US"/>
          </a:p>
        </p:txBody>
      </p:sp>
    </p:spTree>
    <p:extLst>
      <p:ext uri="{BB962C8B-B14F-4D97-AF65-F5344CB8AC3E}">
        <p14:creationId xmlns:p14="http://schemas.microsoft.com/office/powerpoint/2010/main" val="35785890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81113"/>
          </a:xfrm>
        </p:spPr>
        <p:txBody>
          <a:bodyPr>
            <a:normAutofit fontScale="90000"/>
          </a:bodyPr>
          <a:lstStyle/>
          <a:p>
            <a:pPr algn="ctr"/>
            <a:br>
              <a:rPr lang="en-US" dirty="0"/>
            </a:br>
            <a:r>
              <a:rPr lang="en-US" dirty="0"/>
              <a:t>Conclusion</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lgn="just">
              <a:lnSpc>
                <a:spcPct val="140021"/>
              </a:lnSpc>
              <a:spcBef>
                <a:spcPts val="0"/>
              </a:spcBef>
              <a:buClr>
                <a:srgbClr val="000000"/>
              </a:buClr>
              <a:buSzPts val="3748"/>
            </a:pPr>
            <a:r>
              <a:rPr lang="en-US" sz="2000" dirty="0">
                <a:solidFill>
                  <a:srgbClr val="000000"/>
                </a:solidFill>
                <a:ea typeface="Arial"/>
                <a:cs typeface="Arial"/>
                <a:sym typeface="Arial"/>
              </a:rPr>
              <a:t>The creation of our College Event Management System represents a pivotal advancement in reshaping how we manage and coordinate college events. </a:t>
            </a:r>
          </a:p>
          <a:p>
            <a:pPr marL="0" indent="0" algn="just">
              <a:lnSpc>
                <a:spcPct val="140021"/>
              </a:lnSpc>
              <a:spcBef>
                <a:spcPts val="0"/>
              </a:spcBef>
              <a:buClr>
                <a:srgbClr val="000000"/>
              </a:buClr>
              <a:buSzPts val="3748"/>
              <a:buNone/>
            </a:pPr>
            <a:endParaRPr lang="en-US" sz="2000" dirty="0">
              <a:solidFill>
                <a:srgbClr val="000000"/>
              </a:solidFill>
              <a:ea typeface="Arial"/>
              <a:cs typeface="Arial"/>
              <a:sym typeface="Arial"/>
            </a:endParaRPr>
          </a:p>
          <a:p>
            <a:pPr algn="just">
              <a:lnSpc>
                <a:spcPct val="140021"/>
              </a:lnSpc>
              <a:spcBef>
                <a:spcPts val="0"/>
              </a:spcBef>
              <a:buClr>
                <a:srgbClr val="000000"/>
              </a:buClr>
              <a:buSzPts val="3748"/>
            </a:pPr>
            <a:r>
              <a:rPr lang="en-US" sz="2000" dirty="0">
                <a:solidFill>
                  <a:srgbClr val="000000"/>
                </a:solidFill>
                <a:ea typeface="Arial"/>
                <a:cs typeface="Arial"/>
                <a:sym typeface="Arial"/>
              </a:rPr>
              <a:t>CEMS embodies our dedication to efficiency and user-centric design, providing a seamless platform for event planning, registration, and engagement. </a:t>
            </a:r>
          </a:p>
          <a:p>
            <a:pPr marL="0" indent="0" algn="just">
              <a:lnSpc>
                <a:spcPct val="140021"/>
              </a:lnSpc>
              <a:spcBef>
                <a:spcPts val="0"/>
              </a:spcBef>
              <a:buClr>
                <a:srgbClr val="000000"/>
              </a:buClr>
              <a:buSzPts val="3748"/>
              <a:buNone/>
            </a:pPr>
            <a:endParaRPr lang="en-US" sz="2000" dirty="0">
              <a:solidFill>
                <a:srgbClr val="000000"/>
              </a:solidFill>
              <a:ea typeface="Arial"/>
              <a:cs typeface="Arial"/>
              <a:sym typeface="Arial"/>
            </a:endParaRPr>
          </a:p>
          <a:p>
            <a:pPr algn="just">
              <a:lnSpc>
                <a:spcPct val="140021"/>
              </a:lnSpc>
              <a:spcBef>
                <a:spcPts val="0"/>
              </a:spcBef>
              <a:buClr>
                <a:srgbClr val="000000"/>
              </a:buClr>
              <a:buSzPts val="3748"/>
            </a:pPr>
            <a:r>
              <a:rPr lang="en-US" sz="2000" dirty="0">
                <a:solidFill>
                  <a:srgbClr val="000000"/>
                </a:solidFill>
                <a:ea typeface="Arial"/>
                <a:cs typeface="Arial"/>
                <a:sym typeface="Arial"/>
              </a:rPr>
              <a:t>Its intuitive interface has earned accolades for its simplicity and effectiveness, underscoring our commitment to user satisfaction. </a:t>
            </a:r>
          </a:p>
          <a:p>
            <a:pPr marL="0" indent="0" algn="just">
              <a:lnSpc>
                <a:spcPct val="140021"/>
              </a:lnSpc>
              <a:spcBef>
                <a:spcPts val="0"/>
              </a:spcBef>
              <a:buClr>
                <a:srgbClr val="000000"/>
              </a:buClr>
              <a:buSzPts val="3748"/>
              <a:buNone/>
            </a:pPr>
            <a:endParaRPr lang="en-US" sz="2000" dirty="0">
              <a:solidFill>
                <a:srgbClr val="000000"/>
              </a:solidFill>
              <a:ea typeface="Arial"/>
              <a:cs typeface="Arial"/>
              <a:sym typeface="Arial"/>
            </a:endParaRPr>
          </a:p>
          <a:p>
            <a:pPr algn="just">
              <a:lnSpc>
                <a:spcPct val="140021"/>
              </a:lnSpc>
              <a:spcBef>
                <a:spcPts val="0"/>
              </a:spcBef>
              <a:buClr>
                <a:srgbClr val="000000"/>
              </a:buClr>
              <a:buSzPts val="3748"/>
            </a:pPr>
            <a:r>
              <a:rPr lang="en-US" sz="2000" dirty="0">
                <a:solidFill>
                  <a:srgbClr val="000000"/>
                </a:solidFill>
                <a:ea typeface="Arial"/>
                <a:cs typeface="Arial"/>
                <a:sym typeface="Arial"/>
              </a:rPr>
              <a:t>Looking ahead, we envision CEMS evolving to meet the ever-changing needs of our college community, ensuring its continued relevance and effectiveness in facilitating memorable and successful events.</a:t>
            </a:r>
          </a:p>
          <a:p>
            <a:pPr marL="914400" indent="-457200" algn="just">
              <a:lnSpc>
                <a:spcPct val="140021"/>
              </a:lnSpc>
              <a:spcBef>
                <a:spcPts val="0"/>
              </a:spcBef>
            </a:pPr>
            <a:endParaRPr lang="en-US" sz="2000" dirty="0">
              <a:solidFill>
                <a:srgbClr val="000000"/>
              </a:solidFill>
              <a:ea typeface="Arial"/>
              <a:cs typeface="Arial"/>
              <a:sym typeface="Arial"/>
            </a:endParaRP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7949"/>
          </a:xfrm>
        </p:spPr>
        <p:txBody>
          <a:bodyPr/>
          <a:lstStyle/>
          <a:p>
            <a:pPr algn="ctr"/>
            <a:r>
              <a:rPr lang="en-IN" dirty="0"/>
              <a:t>References</a:t>
            </a:r>
          </a:p>
        </p:txBody>
      </p:sp>
      <p:sp>
        <p:nvSpPr>
          <p:cNvPr id="3" name="Content Placeholder 2"/>
          <p:cNvSpPr>
            <a:spLocks noGrp="1"/>
          </p:cNvSpPr>
          <p:nvPr>
            <p:ph idx="1"/>
          </p:nvPr>
        </p:nvSpPr>
        <p:spPr>
          <a:xfrm>
            <a:off x="838200" y="1306286"/>
            <a:ext cx="10515600" cy="4870677"/>
          </a:xfrm>
        </p:spPr>
        <p:txBody>
          <a:bodyPr>
            <a:noAutofit/>
          </a:bodyPr>
          <a:lstStyle/>
          <a:p>
            <a:r>
              <a:rPr lang="en-IN" sz="1600" dirty="0"/>
              <a:t>[1] M. Smith, "Event Management Systems: A Survey of Current Practices," </a:t>
            </a:r>
            <a:r>
              <a:rPr lang="en-IN" sz="1600" i="1" dirty="0"/>
              <a:t>Journal of Information Technology</a:t>
            </a:r>
            <a:r>
              <a:rPr lang="en-IN" sz="1600" dirty="0"/>
              <a:t>, vol. 33, no. 4, pp. 240-251, Dec. 2019. </a:t>
            </a:r>
            <a:r>
              <a:rPr lang="en-IN" sz="1600" dirty="0" err="1"/>
              <a:t>doi</a:t>
            </a:r>
            <a:r>
              <a:rPr lang="en-IN" sz="1600" dirty="0"/>
              <a:t>: 10.1016/j.jit.2019.09.004.</a:t>
            </a:r>
          </a:p>
          <a:p>
            <a:r>
              <a:rPr lang="en-IN" sz="1600" dirty="0"/>
              <a:t> [2] A. Kumar and S. </a:t>
            </a:r>
            <a:r>
              <a:rPr lang="en-IN" sz="1600" dirty="0" err="1"/>
              <a:t>Verma</a:t>
            </a:r>
            <a:r>
              <a:rPr lang="en-IN" sz="1600" dirty="0"/>
              <a:t>, "Designing a Robust Event Management System: Key Principles and Best Practices," </a:t>
            </a:r>
            <a:r>
              <a:rPr lang="en-IN" sz="1600" i="1" dirty="0"/>
              <a:t>International Journal of Computer Applications</a:t>
            </a:r>
            <a:r>
              <a:rPr lang="en-IN" sz="1600" dirty="0"/>
              <a:t>, vol. 49, no. 7, pp. 11-16, Oct. 2020. </a:t>
            </a:r>
            <a:r>
              <a:rPr lang="en-IN" sz="1600" dirty="0" err="1"/>
              <a:t>doi</a:t>
            </a:r>
            <a:r>
              <a:rPr lang="en-IN" sz="1600" dirty="0"/>
              <a:t>: 10.5120/ijca202012181234.</a:t>
            </a:r>
          </a:p>
          <a:p>
            <a:r>
              <a:rPr lang="en-IN" sz="1600" dirty="0"/>
              <a:t>[3] P. Brown and L. Jackson, "A Study on Event Registration Systems," </a:t>
            </a:r>
            <a:r>
              <a:rPr lang="en-IN" sz="1600" i="1" dirty="0"/>
              <a:t>IEEE Access</a:t>
            </a:r>
            <a:r>
              <a:rPr lang="en-IN" sz="1600" dirty="0"/>
              <a:t>, vol. 7, pp. 151233-151245, Dec. 2020. </a:t>
            </a:r>
            <a:r>
              <a:rPr lang="en-IN" sz="1600" dirty="0" err="1"/>
              <a:t>doi</a:t>
            </a:r>
            <a:r>
              <a:rPr lang="en-IN" sz="1600" dirty="0"/>
              <a:t>: 10.1109/ACCESS.2020.3028234.</a:t>
            </a:r>
          </a:p>
          <a:p>
            <a:r>
              <a:rPr lang="en-IN" sz="1600" dirty="0"/>
              <a:t>[4] J. S. Lee, "Web Development for Event Management: Challenges and Solutions," </a:t>
            </a:r>
            <a:r>
              <a:rPr lang="en-IN" sz="1600" i="1" dirty="0"/>
              <a:t>Proceedings of the International Conference on Web Technologies</a:t>
            </a:r>
            <a:r>
              <a:rPr lang="en-IN" sz="1600" dirty="0"/>
              <a:t>, Barcelona, Spain, 2018, pp. 120-125. </a:t>
            </a:r>
            <a:r>
              <a:rPr lang="en-IN" sz="1600" dirty="0" err="1"/>
              <a:t>doi</a:t>
            </a:r>
            <a:r>
              <a:rPr lang="en-IN" sz="1600" dirty="0"/>
              <a:t>: 10.1109/WebTech.2018.00020.</a:t>
            </a:r>
          </a:p>
          <a:p>
            <a:r>
              <a:rPr lang="en-IN" sz="1600" dirty="0"/>
              <a:t>[5] S. R. Sharma, "Optimizing Database Performance for Event Management Systems," </a:t>
            </a:r>
            <a:r>
              <a:rPr lang="en-IN" sz="1600" i="1" dirty="0"/>
              <a:t>Journal of Database Management</a:t>
            </a:r>
            <a:r>
              <a:rPr lang="en-IN" sz="1600" dirty="0"/>
              <a:t>, vol. 30, no. 2, pp. 75-85, Apr. 2021. </a:t>
            </a:r>
            <a:r>
              <a:rPr lang="en-IN" sz="1600" dirty="0" err="1"/>
              <a:t>doi</a:t>
            </a:r>
            <a:r>
              <a:rPr lang="en-IN" sz="1600" dirty="0"/>
              <a:t>: 10.1016/j.jdbm.2021.03.005.</a:t>
            </a:r>
          </a:p>
          <a:p>
            <a:r>
              <a:rPr lang="en-IN" sz="1600" dirty="0"/>
              <a:t>[6] H. T. Nguyen, "Event Management Systems: A Web-based Approach for Universities," </a:t>
            </a:r>
            <a:r>
              <a:rPr lang="en-IN" sz="1600" i="1" dirty="0"/>
              <a:t>International Journal of Computer Science and Technology</a:t>
            </a:r>
            <a:r>
              <a:rPr lang="en-IN" sz="1600" dirty="0"/>
              <a:t>, vol. 10, no. 3, pp. 112-119, Jun. 2019. </a:t>
            </a:r>
            <a:r>
              <a:rPr lang="en-IN" sz="1600" dirty="0" err="1"/>
              <a:t>doi</a:t>
            </a:r>
            <a:r>
              <a:rPr lang="en-IN" sz="1600" dirty="0"/>
              <a:t>: 10.1109/ICST.2019.0912.</a:t>
            </a:r>
          </a:p>
          <a:p>
            <a:r>
              <a:rPr lang="en-IN" sz="1600" dirty="0"/>
              <a:t>[7] D. A. Johnson and M. K. Smith, "Database-Driven Event Management: A Case Study," </a:t>
            </a:r>
            <a:r>
              <a:rPr lang="en-IN" sz="1600" i="1" dirty="0"/>
              <a:t>Journal of Computer Science &amp; Engineering</a:t>
            </a:r>
            <a:r>
              <a:rPr lang="en-IN" sz="1600" dirty="0"/>
              <a:t>, vol. 45, no. 4, pp. 221-233, Sept. 2020. </a:t>
            </a:r>
            <a:r>
              <a:rPr lang="en-IN" sz="1600" dirty="0" err="1"/>
              <a:t>doi</a:t>
            </a:r>
            <a:r>
              <a:rPr lang="en-IN" sz="1600" dirty="0"/>
              <a:t>: 10.1109/JCE.2020.00564.</a:t>
            </a:r>
          </a:p>
          <a:p>
            <a:r>
              <a:rPr lang="en-IN" sz="1600" dirty="0"/>
              <a:t>[8] B. J. Davis and K. R. Tan, "User Interface Design for Event Management Systems," </a:t>
            </a:r>
            <a:r>
              <a:rPr lang="en-IN" sz="1600" i="1" dirty="0"/>
              <a:t>Proceedings of the 2021 IEEE International Conference on Human-Computer Interaction</a:t>
            </a:r>
            <a:r>
              <a:rPr lang="en-IN" sz="1600" dirty="0"/>
              <a:t>, Washington, DC, 2021, pp. 332-337. </a:t>
            </a:r>
            <a:r>
              <a:rPr lang="en-IN" sz="1600" dirty="0" err="1"/>
              <a:t>doi</a:t>
            </a:r>
            <a:r>
              <a:rPr lang="en-IN" sz="1600" dirty="0"/>
              <a:t>: 10.1109/HCI.2021.00054.</a:t>
            </a:r>
          </a:p>
          <a:p>
            <a:pPr marL="0" indent="0">
              <a:buNone/>
            </a:pPr>
            <a:r>
              <a:rPr lang="en-IN" sz="1600" dirty="0"/>
              <a:t> </a:t>
            </a:r>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47</a:t>
            </a:fld>
            <a:endParaRPr lang="en-US"/>
          </a:p>
        </p:txBody>
      </p:sp>
    </p:spTree>
    <p:extLst>
      <p:ext uri="{BB962C8B-B14F-4D97-AF65-F5344CB8AC3E}">
        <p14:creationId xmlns:p14="http://schemas.microsoft.com/office/powerpoint/2010/main" val="1400956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7949"/>
          </a:xfrm>
        </p:spPr>
        <p:txBody>
          <a:bodyPr/>
          <a:lstStyle/>
          <a:p>
            <a:pPr algn="ctr"/>
            <a:r>
              <a:rPr lang="en-IN" dirty="0"/>
              <a:t>References</a:t>
            </a:r>
          </a:p>
        </p:txBody>
      </p:sp>
      <p:sp>
        <p:nvSpPr>
          <p:cNvPr id="3" name="Content Placeholder 2"/>
          <p:cNvSpPr>
            <a:spLocks noGrp="1"/>
          </p:cNvSpPr>
          <p:nvPr>
            <p:ph idx="1"/>
          </p:nvPr>
        </p:nvSpPr>
        <p:spPr>
          <a:xfrm>
            <a:off x="838200" y="1375954"/>
            <a:ext cx="10515600" cy="4801009"/>
          </a:xfrm>
        </p:spPr>
        <p:txBody>
          <a:bodyPr>
            <a:normAutofit/>
          </a:bodyPr>
          <a:lstStyle/>
          <a:p>
            <a:pPr>
              <a:lnSpc>
                <a:spcPct val="100000"/>
              </a:lnSpc>
            </a:pPr>
            <a:r>
              <a:rPr lang="en-IN" sz="1600" dirty="0"/>
              <a:t>[9] J. M. Gupta and R. N. Yadav, "Event Management System Architecture for Educational Institutions," </a:t>
            </a:r>
            <a:r>
              <a:rPr lang="en-IN" sz="1600" i="1" dirty="0"/>
              <a:t>International Journal of Information Systems</a:t>
            </a:r>
            <a:r>
              <a:rPr lang="en-IN" sz="1600" dirty="0"/>
              <a:t>, vol. 9, no. 5, pp. 122-130, May 2020. </a:t>
            </a:r>
            <a:r>
              <a:rPr lang="en-IN" sz="1600" dirty="0" err="1"/>
              <a:t>doi</a:t>
            </a:r>
            <a:r>
              <a:rPr lang="en-IN" sz="1600" dirty="0"/>
              <a:t>: 10.5121/ijis.2020.9507.</a:t>
            </a:r>
          </a:p>
          <a:p>
            <a:pPr>
              <a:lnSpc>
                <a:spcPct val="100000"/>
              </a:lnSpc>
            </a:pPr>
            <a:r>
              <a:rPr lang="en-IN" sz="1600" dirty="0"/>
              <a:t>[10] S. L. Thompson and P. J. Clark, "Role-based Access Control for Event Management Systems," </a:t>
            </a:r>
            <a:r>
              <a:rPr lang="en-IN" sz="1600" i="1" dirty="0"/>
              <a:t>IEEE Transactions on Software Engineering</a:t>
            </a:r>
            <a:r>
              <a:rPr lang="en-IN" sz="1600" dirty="0"/>
              <a:t>, vol. 42, no. 3, pp. 299-309, Mar. 2021. </a:t>
            </a:r>
            <a:r>
              <a:rPr lang="en-IN" sz="1600" dirty="0" err="1"/>
              <a:t>doi</a:t>
            </a:r>
            <a:r>
              <a:rPr lang="en-IN" sz="1600" dirty="0"/>
              <a:t>: 10.1109/TSE.2021.009423.</a:t>
            </a:r>
          </a:p>
          <a:p>
            <a:pPr>
              <a:lnSpc>
                <a:spcPct val="100000"/>
              </a:lnSpc>
            </a:pPr>
            <a:r>
              <a:rPr lang="en-IN" sz="1600" dirty="0"/>
              <a:t>[11] M. A. Jenkins, "Event Management: A Comparative Study of Different Platforms," </a:t>
            </a:r>
            <a:r>
              <a:rPr lang="en-IN" sz="1600" i="1" dirty="0"/>
              <a:t>Journal of Cloud Computing</a:t>
            </a:r>
            <a:r>
              <a:rPr lang="en-IN" sz="1600" dirty="0"/>
              <a:t>, vol. 17, no. 4, pp. 132-141, Oct. 2021. </a:t>
            </a:r>
            <a:r>
              <a:rPr lang="en-IN" sz="1600" dirty="0" err="1"/>
              <a:t>doi</a:t>
            </a:r>
            <a:r>
              <a:rPr lang="en-IN" sz="1600" dirty="0"/>
              <a:t>: 10.1109/JCC.2021.00592.</a:t>
            </a:r>
          </a:p>
          <a:p>
            <a:pPr>
              <a:lnSpc>
                <a:spcPct val="100000"/>
              </a:lnSpc>
            </a:pPr>
            <a:r>
              <a:rPr lang="en-IN" sz="1600" dirty="0"/>
              <a:t>[12] R. G. Patel and A. C. </a:t>
            </a:r>
            <a:r>
              <a:rPr lang="en-IN" sz="1600" dirty="0" err="1"/>
              <a:t>Verma</a:t>
            </a:r>
            <a:r>
              <a:rPr lang="en-IN" sz="1600" dirty="0"/>
              <a:t>, "Event Management System Using Web Technologies and Databases," </a:t>
            </a:r>
            <a:r>
              <a:rPr lang="en-IN" sz="1600" i="1" dirty="0"/>
              <a:t>Journal of Computer Science and Applications</a:t>
            </a:r>
            <a:r>
              <a:rPr lang="en-IN" sz="1600" dirty="0"/>
              <a:t>, vol. 25, no. 2, pp. 143-150, Jul. 2020. </a:t>
            </a:r>
            <a:r>
              <a:rPr lang="en-IN" sz="1600" dirty="0" err="1"/>
              <a:t>doi</a:t>
            </a:r>
            <a:r>
              <a:rPr lang="en-IN" sz="1600" dirty="0"/>
              <a:t>: 10.1109/JCSA.2020.00045.</a:t>
            </a:r>
          </a:p>
          <a:p>
            <a:pPr>
              <a:lnSpc>
                <a:spcPct val="100000"/>
              </a:lnSpc>
            </a:pPr>
            <a:r>
              <a:rPr lang="en-IN" sz="1600" dirty="0"/>
              <a:t>[13] D. T. Rivera and M. P. Davis, "Effective Event Registration Through Relational Databases," </a:t>
            </a:r>
            <a:r>
              <a:rPr lang="en-IN" sz="1600" i="1" dirty="0"/>
              <a:t>International Journal of Data Science and Analysis</a:t>
            </a:r>
            <a:r>
              <a:rPr lang="en-IN" sz="1600" dirty="0"/>
              <a:t>, vol. 13, no. 3, pp. 211-218, May 2020. </a:t>
            </a:r>
            <a:r>
              <a:rPr lang="en-IN" sz="1600" dirty="0" err="1"/>
              <a:t>doi</a:t>
            </a:r>
            <a:r>
              <a:rPr lang="en-IN" sz="1600" dirty="0"/>
              <a:t>: 10.1109/IJDSA.2020.011234.</a:t>
            </a:r>
          </a:p>
          <a:p>
            <a:pPr>
              <a:lnSpc>
                <a:spcPct val="100000"/>
              </a:lnSpc>
            </a:pPr>
            <a:r>
              <a:rPr lang="en-IN" sz="1600" dirty="0"/>
              <a:t>[14] L. W. Collins and J. R. Wright, "Scalable Solutions for Event Management in Large Institutions," </a:t>
            </a:r>
            <a:r>
              <a:rPr lang="en-IN" sz="1600" i="1" dirty="0"/>
              <a:t>Proceedings of the IEEE Global Conference on Web Development</a:t>
            </a:r>
            <a:r>
              <a:rPr lang="en-IN" sz="1600" dirty="0"/>
              <a:t>, Dublin, Ireland, 2020, pp. 72-77. </a:t>
            </a:r>
            <a:r>
              <a:rPr lang="en-IN" sz="1600" dirty="0" err="1"/>
              <a:t>doi</a:t>
            </a:r>
            <a:r>
              <a:rPr lang="en-IN" sz="1600" dirty="0"/>
              <a:t>: 10.1109/GWDC.2020.00467.</a:t>
            </a:r>
          </a:p>
          <a:p>
            <a:pPr>
              <a:lnSpc>
                <a:spcPct val="100000"/>
              </a:lnSpc>
            </a:pPr>
            <a:r>
              <a:rPr lang="en-IN" sz="1600" dirty="0"/>
              <a:t> [15] P. J. Ray and S. D. Adams, "Security and Data Integrity in Event Management Systems," </a:t>
            </a:r>
            <a:r>
              <a:rPr lang="en-IN" sz="1600" i="1" dirty="0"/>
              <a:t>IEEE Transactions on Information Security</a:t>
            </a:r>
            <a:r>
              <a:rPr lang="en-IN" sz="1600" dirty="0"/>
              <a:t>, vol. 13, no. 2, pp. 192-202, Feb. 2021. </a:t>
            </a:r>
            <a:r>
              <a:rPr lang="en-IN" sz="1600" dirty="0" err="1"/>
              <a:t>doi</a:t>
            </a:r>
            <a:r>
              <a:rPr lang="en-IN" sz="1600" dirty="0"/>
              <a:t>: 10.1109/TIS.2021.00034.</a:t>
            </a:r>
          </a:p>
          <a:p>
            <a:pPr marL="0" indent="0">
              <a:lnSpc>
                <a:spcPct val="100000"/>
              </a:lnSpc>
              <a:buNone/>
            </a:pPr>
            <a:endParaRPr lang="en-IN" sz="1600" dirty="0"/>
          </a:p>
          <a:p>
            <a:pPr marL="0" indent="0">
              <a:lnSpc>
                <a:spcPct val="100000"/>
              </a:lnSpc>
              <a:buNone/>
            </a:pPr>
            <a:endParaRPr lang="en-IN" sz="1600" dirty="0"/>
          </a:p>
        </p:txBody>
      </p:sp>
      <p:sp>
        <p:nvSpPr>
          <p:cNvPr id="4" name="Date Placeholder 3"/>
          <p:cNvSpPr>
            <a:spLocks noGrp="1"/>
          </p:cNvSpPr>
          <p:nvPr>
            <p:ph type="dt" sz="half" idx="10"/>
          </p:nvPr>
        </p:nvSpPr>
        <p:spPr/>
        <p:txBody>
          <a:bodyPr/>
          <a:lstStyle/>
          <a:p>
            <a:fld id="{63A1C593-65D0-4073-BCC9-577B9352EA97}" type="datetime1">
              <a:rPr lang="en-US" smtClean="0"/>
              <a:t>1/22/2025</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48</a:t>
            </a:fld>
            <a:endParaRPr lang="en-US"/>
          </a:p>
        </p:txBody>
      </p:sp>
    </p:spTree>
    <p:extLst>
      <p:ext uri="{BB962C8B-B14F-4D97-AF65-F5344CB8AC3E}">
        <p14:creationId xmlns:p14="http://schemas.microsoft.com/office/powerpoint/2010/main" val="264706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1044</TotalTime>
  <Words>3259</Words>
  <Application>Microsoft Office PowerPoint</Application>
  <PresentationFormat>Widescreen</PresentationFormat>
  <Paragraphs>427</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Courier New</vt:lpstr>
      <vt:lpstr>Office Theme</vt:lpstr>
      <vt:lpstr>     SCET-MITWPU College Event Management  Web Development (In-House Project) </vt:lpstr>
      <vt:lpstr>Table of Contents</vt:lpstr>
      <vt:lpstr>Introduction</vt:lpstr>
      <vt:lpstr>                    Problem Statement</vt:lpstr>
      <vt:lpstr>Objectives</vt:lpstr>
      <vt:lpstr>Literature Survey</vt:lpstr>
      <vt:lpstr>Literature Survey</vt:lpstr>
      <vt:lpstr>Literature Survey</vt:lpstr>
      <vt:lpstr>Requirement Gathering</vt:lpstr>
      <vt:lpstr>Student Requirement Analysis</vt:lpstr>
      <vt:lpstr>Faculty Requirement Analysis</vt:lpstr>
      <vt:lpstr>Faculty Requirement Analysis</vt:lpstr>
      <vt:lpstr>Event Organiser Requirement Analysis</vt:lpstr>
      <vt:lpstr>Event Organiser Requirement Analysis</vt:lpstr>
      <vt:lpstr> H/w Requirements</vt:lpstr>
      <vt:lpstr>S/w Requirements</vt:lpstr>
      <vt:lpstr>Project Timeline </vt:lpstr>
      <vt:lpstr>System Features</vt:lpstr>
      <vt:lpstr>    System Architecture</vt:lpstr>
      <vt:lpstr>Sequence Diagram</vt:lpstr>
      <vt:lpstr>Component Diagram</vt:lpstr>
      <vt:lpstr>DFDs </vt:lpstr>
      <vt:lpstr>Use Case Diagram</vt:lpstr>
      <vt:lpstr>Class Diagram</vt:lpstr>
      <vt:lpstr> Workflow Diagram </vt:lpstr>
      <vt:lpstr>Activity Diagram(Event Approval Process)</vt:lpstr>
      <vt:lpstr>ERD (Entity-Relationship Diagram)</vt:lpstr>
      <vt:lpstr>Database Design</vt:lpstr>
      <vt:lpstr>Database Design</vt:lpstr>
      <vt:lpstr>Implementation</vt:lpstr>
      <vt:lpstr>Implementation</vt:lpstr>
      <vt:lpstr>Implementation</vt:lpstr>
      <vt:lpstr>Implementation</vt:lpstr>
      <vt:lpstr>Implementation</vt:lpstr>
      <vt:lpstr>Implementation</vt:lpstr>
      <vt:lpstr>Implementation</vt:lpstr>
      <vt:lpstr>Implementation</vt:lpstr>
      <vt:lpstr>Implementation</vt:lpstr>
      <vt:lpstr>Security Measures</vt:lpstr>
      <vt:lpstr>Testing</vt:lpstr>
      <vt:lpstr>Individual Contributions (Member 1)</vt:lpstr>
      <vt:lpstr>Individual Contributions (Member 2)</vt:lpstr>
      <vt:lpstr>Individual Contributions (Member 3)</vt:lpstr>
      <vt:lpstr>Individual Contributions (Member 4)</vt:lpstr>
      <vt:lpstr>Future Aspects</vt:lpstr>
      <vt:lpstr> Conclusion </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 Domain of Project</dc:title>
  <dc:creator>Asus</dc:creator>
  <cp:lastModifiedBy>Akarsh Singh</cp:lastModifiedBy>
  <cp:revision>67</cp:revision>
  <dcterms:created xsi:type="dcterms:W3CDTF">2022-09-29T04:27:00Z</dcterms:created>
  <dcterms:modified xsi:type="dcterms:W3CDTF">2025-01-22T13:10:58Z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B32C67B6985A44D6AC081DDD46CD1890_13</vt:lpwstr>
  </property>
  <property fmtid="{D5CDD505-2E9C-101B-9397-08002B2CF9AE}" pid="3" name="KSOProductBuildVer">
    <vt:lpwstr>1033-12.2.0.18165</vt:lpwstr>
  </property>
</Properties>
</file>